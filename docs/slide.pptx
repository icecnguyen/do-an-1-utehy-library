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73" r:id="rId7"/>
    <p:sldId id="274" r:id="rId8"/>
    <p:sldId id="275" r:id="rId9"/>
    <p:sldId id="276" r:id="rId10"/>
    <p:sldId id="277" r:id="rId11"/>
    <p:sldId id="278" r:id="rId12"/>
    <p:sldId id="269" r:id="rId13"/>
  </p:sldIdLst>
  <p:sldSz cx="12192000" cy="6858000"/>
  <p:notesSz cx="6797675" cy="99282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1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VC+PWqmd8n166q2Ih6mp8uBcl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1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84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84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78375"/>
            <a:ext cx="5438775" cy="39084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84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84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notes"/>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notes"/>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3:notes"/>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4:notes"/>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5:notes"/>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F1966407-6045-7D46-5B6C-5FBA114D297B}"/>
            </a:ext>
          </a:extLst>
        </p:cNvPr>
        <p:cNvGrpSpPr/>
        <p:nvPr/>
      </p:nvGrpSpPr>
      <p:grpSpPr>
        <a:xfrm>
          <a:off x="0" y="0"/>
          <a:ext cx="0" cy="0"/>
          <a:chOff x="0" y="0"/>
          <a:chExt cx="0" cy="0"/>
        </a:xfrm>
      </p:grpSpPr>
      <p:sp>
        <p:nvSpPr>
          <p:cNvPr id="249" name="Google Shape;249;p5:notes">
            <a:extLst>
              <a:ext uri="{FF2B5EF4-FFF2-40B4-BE49-F238E27FC236}">
                <a16:creationId xmlns:a16="http://schemas.microsoft.com/office/drawing/2014/main" id="{0A4109B3-9789-C181-45E0-95739DCB1996}"/>
              </a:ext>
            </a:extLst>
          </p:cNvPr>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a:extLst>
              <a:ext uri="{FF2B5EF4-FFF2-40B4-BE49-F238E27FC236}">
                <a16:creationId xmlns:a16="http://schemas.microsoft.com/office/drawing/2014/main" id="{A118F13E-B319-8DE4-4B65-FE897E4B4772}"/>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3574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37E0EED7-CDB3-9965-2E09-10F30A4222D4}"/>
            </a:ext>
          </a:extLst>
        </p:cNvPr>
        <p:cNvGrpSpPr/>
        <p:nvPr/>
      </p:nvGrpSpPr>
      <p:grpSpPr>
        <a:xfrm>
          <a:off x="0" y="0"/>
          <a:ext cx="0" cy="0"/>
          <a:chOff x="0" y="0"/>
          <a:chExt cx="0" cy="0"/>
        </a:xfrm>
      </p:grpSpPr>
      <p:sp>
        <p:nvSpPr>
          <p:cNvPr id="249" name="Google Shape;249;p5:notes">
            <a:extLst>
              <a:ext uri="{FF2B5EF4-FFF2-40B4-BE49-F238E27FC236}">
                <a16:creationId xmlns:a16="http://schemas.microsoft.com/office/drawing/2014/main" id="{F19F27EE-6E99-0A92-9728-B7865ACA17CF}"/>
              </a:ext>
            </a:extLst>
          </p:cNvPr>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a:extLst>
              <a:ext uri="{FF2B5EF4-FFF2-40B4-BE49-F238E27FC236}">
                <a16:creationId xmlns:a16="http://schemas.microsoft.com/office/drawing/2014/main" id="{C66E92D8-4842-CDAA-6C48-95F1B6119FE4}"/>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1488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76632E46-0F12-427D-55E1-42D9C55354C8}"/>
            </a:ext>
          </a:extLst>
        </p:cNvPr>
        <p:cNvGrpSpPr/>
        <p:nvPr/>
      </p:nvGrpSpPr>
      <p:grpSpPr>
        <a:xfrm>
          <a:off x="0" y="0"/>
          <a:ext cx="0" cy="0"/>
          <a:chOff x="0" y="0"/>
          <a:chExt cx="0" cy="0"/>
        </a:xfrm>
      </p:grpSpPr>
      <p:sp>
        <p:nvSpPr>
          <p:cNvPr id="249" name="Google Shape;249;p5:notes">
            <a:extLst>
              <a:ext uri="{FF2B5EF4-FFF2-40B4-BE49-F238E27FC236}">
                <a16:creationId xmlns:a16="http://schemas.microsoft.com/office/drawing/2014/main" id="{44D1CB9F-3945-BFC2-D5B1-B93378AF400E}"/>
              </a:ext>
            </a:extLst>
          </p:cNvPr>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a:extLst>
              <a:ext uri="{FF2B5EF4-FFF2-40B4-BE49-F238E27FC236}">
                <a16:creationId xmlns:a16="http://schemas.microsoft.com/office/drawing/2014/main" id="{ED87772B-85C4-4940-3D84-1AFC2227326D}"/>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195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FEFEFDA-1E81-11C6-4F42-66082D7BB20E}"/>
            </a:ext>
          </a:extLst>
        </p:cNvPr>
        <p:cNvGrpSpPr/>
        <p:nvPr/>
      </p:nvGrpSpPr>
      <p:grpSpPr>
        <a:xfrm>
          <a:off x="0" y="0"/>
          <a:ext cx="0" cy="0"/>
          <a:chOff x="0" y="0"/>
          <a:chExt cx="0" cy="0"/>
        </a:xfrm>
      </p:grpSpPr>
      <p:sp>
        <p:nvSpPr>
          <p:cNvPr id="249" name="Google Shape;249;p5:notes">
            <a:extLst>
              <a:ext uri="{FF2B5EF4-FFF2-40B4-BE49-F238E27FC236}">
                <a16:creationId xmlns:a16="http://schemas.microsoft.com/office/drawing/2014/main" id="{50F72A91-EB2B-598B-BC07-009A8D9D6EB6}"/>
              </a:ext>
            </a:extLst>
          </p:cNvPr>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a:extLst>
              <a:ext uri="{FF2B5EF4-FFF2-40B4-BE49-F238E27FC236}">
                <a16:creationId xmlns:a16="http://schemas.microsoft.com/office/drawing/2014/main" id="{B7B7D1D0-E303-D220-AC97-FAD71E70DBEC}"/>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806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13028513-E2CF-BB3B-09E5-4DED9E6C3E24}"/>
            </a:ext>
          </a:extLst>
        </p:cNvPr>
        <p:cNvGrpSpPr/>
        <p:nvPr/>
      </p:nvGrpSpPr>
      <p:grpSpPr>
        <a:xfrm>
          <a:off x="0" y="0"/>
          <a:ext cx="0" cy="0"/>
          <a:chOff x="0" y="0"/>
          <a:chExt cx="0" cy="0"/>
        </a:xfrm>
      </p:grpSpPr>
      <p:sp>
        <p:nvSpPr>
          <p:cNvPr id="249" name="Google Shape;249;p5:notes">
            <a:extLst>
              <a:ext uri="{FF2B5EF4-FFF2-40B4-BE49-F238E27FC236}">
                <a16:creationId xmlns:a16="http://schemas.microsoft.com/office/drawing/2014/main" id="{C88E57D6-6BC8-2B45-74A8-A17F8D8A6377}"/>
              </a:ext>
            </a:extLst>
          </p:cNvPr>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a:extLst>
              <a:ext uri="{FF2B5EF4-FFF2-40B4-BE49-F238E27FC236}">
                <a16:creationId xmlns:a16="http://schemas.microsoft.com/office/drawing/2014/main" id="{F5194463-4E2E-65C7-6579-8AF097215709}"/>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1704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96376B31-5068-B2A5-F8FC-33FF1074479B}"/>
            </a:ext>
          </a:extLst>
        </p:cNvPr>
        <p:cNvGrpSpPr/>
        <p:nvPr/>
      </p:nvGrpSpPr>
      <p:grpSpPr>
        <a:xfrm>
          <a:off x="0" y="0"/>
          <a:ext cx="0" cy="0"/>
          <a:chOff x="0" y="0"/>
          <a:chExt cx="0" cy="0"/>
        </a:xfrm>
      </p:grpSpPr>
      <p:sp>
        <p:nvSpPr>
          <p:cNvPr id="249" name="Google Shape;249;p5:notes">
            <a:extLst>
              <a:ext uri="{FF2B5EF4-FFF2-40B4-BE49-F238E27FC236}">
                <a16:creationId xmlns:a16="http://schemas.microsoft.com/office/drawing/2014/main" id="{A9F418C8-A761-E965-BEEC-0922A0A0118E}"/>
              </a:ext>
            </a:extLst>
          </p:cNvPr>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5:notes">
            <a:extLst>
              <a:ext uri="{FF2B5EF4-FFF2-40B4-BE49-F238E27FC236}">
                <a16:creationId xmlns:a16="http://schemas.microsoft.com/office/drawing/2014/main" id="{89945C60-0430-4D47-C42A-E4DE57FF6700}"/>
              </a:ext>
            </a:extLst>
          </p:cNvPr>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8247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txBox="1">
            <a:spLocks noGrp="1"/>
          </p:cNvSpPr>
          <p:nvPr>
            <p:ph type="body" idx="1"/>
          </p:nvPr>
        </p:nvSpPr>
        <p:spPr>
          <a:xfrm>
            <a:off x="679450" y="4778375"/>
            <a:ext cx="5438775" cy="39084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KHOA CƠ KHÍ" type="title">
  <p:cSld name="TITLE">
    <p:spTree>
      <p:nvGrpSpPr>
        <p:cNvPr id="1" name="Shape 15"/>
        <p:cNvGrpSpPr/>
        <p:nvPr/>
      </p:nvGrpSpPr>
      <p:grpSpPr>
        <a:xfrm>
          <a:off x="0" y="0"/>
          <a:ext cx="0" cy="0"/>
          <a:chOff x="0" y="0"/>
          <a:chExt cx="0" cy="0"/>
        </a:xfrm>
      </p:grpSpPr>
      <p:pic>
        <p:nvPicPr>
          <p:cNvPr id="16" name="Google Shape;16;p16"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17" name="Google Shape;17;p16"/>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6"/>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6"/>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22" name="Google Shape;22;p16" descr="A collage of buildings  Description automatically generated"/>
          <p:cNvPicPr preferRelativeResize="0"/>
          <p:nvPr/>
        </p:nvPicPr>
        <p:blipFill rotWithShape="1">
          <a:blip r:embed="rId3">
            <a:alphaModFix/>
          </a:blip>
          <a:srcRect/>
          <a:stretch/>
        </p:blipFill>
        <p:spPr>
          <a:xfrm>
            <a:off x="6696445" y="426461"/>
            <a:ext cx="5495555" cy="6032004"/>
          </a:xfrm>
          <a:prstGeom prst="rect">
            <a:avLst/>
          </a:prstGeom>
          <a:noFill/>
          <a:ln>
            <a:noFill/>
          </a:ln>
        </p:spPr>
      </p:pic>
      <p:pic>
        <p:nvPicPr>
          <p:cNvPr id="23" name="Google Shape;23;p16"/>
          <p:cNvPicPr preferRelativeResize="0"/>
          <p:nvPr/>
        </p:nvPicPr>
        <p:blipFill rotWithShape="1">
          <a:blip r:embed="rId4">
            <a:alphaModFix/>
          </a:blip>
          <a:srcRect/>
          <a:stretch/>
        </p:blipFill>
        <p:spPr>
          <a:xfrm>
            <a:off x="433175" y="329805"/>
            <a:ext cx="6048819" cy="831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17"/>
          <p:cNvPicPr preferRelativeResize="0"/>
          <p:nvPr/>
        </p:nvPicPr>
        <p:blipFill rotWithShape="1">
          <a:blip r:embed="rId2">
            <a:alphaModFix/>
          </a:blip>
          <a:srcRect/>
          <a:stretch/>
        </p:blipFill>
        <p:spPr>
          <a:xfrm>
            <a:off x="1229" y="0"/>
            <a:ext cx="12189542" cy="6857999"/>
          </a:xfrm>
          <a:prstGeom prst="rect">
            <a:avLst/>
          </a:prstGeom>
          <a:noFill/>
          <a:ln>
            <a:noFill/>
          </a:ln>
        </p:spPr>
      </p:pic>
      <p:sp>
        <p:nvSpPr>
          <p:cNvPr id="26" name="Google Shape;26;p17"/>
          <p:cNvSpPr txBox="1">
            <a:spLocks noGrp="1"/>
          </p:cNvSpPr>
          <p:nvPr>
            <p:ph type="title"/>
          </p:nvPr>
        </p:nvSpPr>
        <p:spPr>
          <a:xfrm>
            <a:off x="230819" y="1"/>
            <a:ext cx="9619238" cy="6810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230819" y="775504"/>
            <a:ext cx="11771791" cy="540145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7"/>
          <p:cNvSpPr txBox="1">
            <a:spLocks noGrp="1"/>
          </p:cNvSpPr>
          <p:nvPr>
            <p:ph type="dt" idx="10"/>
          </p:nvPr>
        </p:nvSpPr>
        <p:spPr>
          <a:xfrm>
            <a:off x="230819" y="633491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3734909"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r">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r">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r">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r">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r">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r">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r">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r">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iaBa-UTEHY">
  <p:cSld name="GiaBa-UTEHY">
    <p:spTree>
      <p:nvGrpSpPr>
        <p:cNvPr id="1" name="Shape 31"/>
        <p:cNvGrpSpPr/>
        <p:nvPr/>
      </p:nvGrpSpPr>
      <p:grpSpPr>
        <a:xfrm>
          <a:off x="0" y="0"/>
          <a:ext cx="0" cy="0"/>
          <a:chOff x="0" y="0"/>
          <a:chExt cx="0" cy="0"/>
        </a:xfrm>
      </p:grpSpPr>
      <p:pic>
        <p:nvPicPr>
          <p:cNvPr id="32" name="Google Shape;32;p18"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33" name="Google Shape;33;p18"/>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8"/>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38" name="Google Shape;38;p18"/>
          <p:cNvPicPr preferRelativeResize="0"/>
          <p:nvPr/>
        </p:nvPicPr>
        <p:blipFill rotWithShape="1">
          <a:blip r:embed="rId3">
            <a:alphaModFix/>
          </a:blip>
          <a:srcRect/>
          <a:stretch/>
        </p:blipFill>
        <p:spPr>
          <a:xfrm>
            <a:off x="373209" y="331948"/>
            <a:ext cx="6464263" cy="699342"/>
          </a:xfrm>
          <a:prstGeom prst="rect">
            <a:avLst/>
          </a:prstGeom>
          <a:noFill/>
          <a:ln>
            <a:noFill/>
          </a:ln>
        </p:spPr>
      </p:pic>
      <p:pic>
        <p:nvPicPr>
          <p:cNvPr id="39" name="Google Shape;39;p18"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RUONG">
  <p:cSld name="1_TRUONG">
    <p:spTree>
      <p:nvGrpSpPr>
        <p:cNvPr id="1" name="Shape 40"/>
        <p:cNvGrpSpPr/>
        <p:nvPr/>
      </p:nvGrpSpPr>
      <p:grpSpPr>
        <a:xfrm>
          <a:off x="0" y="0"/>
          <a:ext cx="0" cy="0"/>
          <a:chOff x="0" y="0"/>
          <a:chExt cx="0" cy="0"/>
        </a:xfrm>
      </p:grpSpPr>
      <p:pic>
        <p:nvPicPr>
          <p:cNvPr id="41" name="Google Shape;41;p19"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42" name="Google Shape;42;p19"/>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47" name="Google Shape;47;p19"/>
          <p:cNvPicPr preferRelativeResize="0"/>
          <p:nvPr/>
        </p:nvPicPr>
        <p:blipFill rotWithShape="1">
          <a:blip r:embed="rId3">
            <a:alphaModFix/>
          </a:blip>
          <a:srcRect/>
          <a:stretch/>
        </p:blipFill>
        <p:spPr>
          <a:xfrm>
            <a:off x="373209" y="331948"/>
            <a:ext cx="6464263" cy="699342"/>
          </a:xfrm>
          <a:prstGeom prst="rect">
            <a:avLst/>
          </a:prstGeom>
          <a:noFill/>
          <a:ln>
            <a:noFill/>
          </a:ln>
        </p:spPr>
      </p:pic>
      <p:pic>
        <p:nvPicPr>
          <p:cNvPr id="48" name="Google Shape;48;p19"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KHOA CKDL">
  <p:cSld name="KHOA CKDL">
    <p:spTree>
      <p:nvGrpSpPr>
        <p:cNvPr id="1" name="Shape 49"/>
        <p:cNvGrpSpPr/>
        <p:nvPr/>
      </p:nvGrpSpPr>
      <p:grpSpPr>
        <a:xfrm>
          <a:off x="0" y="0"/>
          <a:ext cx="0" cy="0"/>
          <a:chOff x="0" y="0"/>
          <a:chExt cx="0" cy="0"/>
        </a:xfrm>
      </p:grpSpPr>
      <p:pic>
        <p:nvPicPr>
          <p:cNvPr id="50" name="Google Shape;50;p20"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51" name="Google Shape;51;p20"/>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3" name="Google Shape;5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0"/>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56" name="Google Shape;56;p20"/>
          <p:cNvPicPr preferRelativeResize="0"/>
          <p:nvPr/>
        </p:nvPicPr>
        <p:blipFill rotWithShape="1">
          <a:blip r:embed="rId3">
            <a:alphaModFix/>
          </a:blip>
          <a:srcRect/>
          <a:stretch/>
        </p:blipFill>
        <p:spPr>
          <a:xfrm>
            <a:off x="433172" y="329805"/>
            <a:ext cx="6048826" cy="831026"/>
          </a:xfrm>
          <a:prstGeom prst="rect">
            <a:avLst/>
          </a:prstGeom>
          <a:noFill/>
          <a:ln>
            <a:noFill/>
          </a:ln>
        </p:spPr>
      </p:pic>
      <p:pic>
        <p:nvPicPr>
          <p:cNvPr id="57" name="Google Shape;57;p20"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N May &amp;TT">
  <p:cSld name="CN May &amp;TT">
    <p:spTree>
      <p:nvGrpSpPr>
        <p:cNvPr id="1" name="Shape 58"/>
        <p:cNvGrpSpPr/>
        <p:nvPr/>
      </p:nvGrpSpPr>
      <p:grpSpPr>
        <a:xfrm>
          <a:off x="0" y="0"/>
          <a:ext cx="0" cy="0"/>
          <a:chOff x="0" y="0"/>
          <a:chExt cx="0" cy="0"/>
        </a:xfrm>
      </p:grpSpPr>
      <p:pic>
        <p:nvPicPr>
          <p:cNvPr id="59" name="Google Shape;59;p21"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60" name="Google Shape;60;p21"/>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1"/>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2" name="Google Shape;6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65" name="Google Shape;65;p21"/>
          <p:cNvPicPr preferRelativeResize="0"/>
          <p:nvPr/>
        </p:nvPicPr>
        <p:blipFill rotWithShape="1">
          <a:blip r:embed="rId3">
            <a:alphaModFix/>
          </a:blip>
          <a:srcRect/>
          <a:stretch/>
        </p:blipFill>
        <p:spPr>
          <a:xfrm>
            <a:off x="433175" y="329805"/>
            <a:ext cx="6048819" cy="831026"/>
          </a:xfrm>
          <a:prstGeom prst="rect">
            <a:avLst/>
          </a:prstGeom>
          <a:noFill/>
          <a:ln>
            <a:noFill/>
          </a:ln>
        </p:spPr>
      </p:pic>
      <p:pic>
        <p:nvPicPr>
          <p:cNvPr id="66" name="Google Shape;66;p21"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NTT">
  <p:cSld name="CNTT">
    <p:spTree>
      <p:nvGrpSpPr>
        <p:cNvPr id="1" name="Shape 67"/>
        <p:cNvGrpSpPr/>
        <p:nvPr/>
      </p:nvGrpSpPr>
      <p:grpSpPr>
        <a:xfrm>
          <a:off x="0" y="0"/>
          <a:ext cx="0" cy="0"/>
          <a:chOff x="0" y="0"/>
          <a:chExt cx="0" cy="0"/>
        </a:xfrm>
      </p:grpSpPr>
      <p:pic>
        <p:nvPicPr>
          <p:cNvPr id="68" name="Google Shape;68;p22"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69" name="Google Shape;69;p22"/>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1" name="Google Shape;7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74" name="Google Shape;74;p22"/>
          <p:cNvPicPr preferRelativeResize="0"/>
          <p:nvPr/>
        </p:nvPicPr>
        <p:blipFill rotWithShape="1">
          <a:blip r:embed="rId3">
            <a:alphaModFix/>
          </a:blip>
          <a:srcRect/>
          <a:stretch/>
        </p:blipFill>
        <p:spPr>
          <a:xfrm>
            <a:off x="433175" y="329805"/>
            <a:ext cx="6048819" cy="831025"/>
          </a:xfrm>
          <a:prstGeom prst="rect">
            <a:avLst/>
          </a:prstGeom>
          <a:noFill/>
          <a:ln>
            <a:noFill/>
          </a:ln>
        </p:spPr>
      </p:pic>
      <p:pic>
        <p:nvPicPr>
          <p:cNvPr id="75" name="Google Shape;75;p22"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KHCB">
  <p:cSld name="KHCB">
    <p:spTree>
      <p:nvGrpSpPr>
        <p:cNvPr id="1" name="Shape 76"/>
        <p:cNvGrpSpPr/>
        <p:nvPr/>
      </p:nvGrpSpPr>
      <p:grpSpPr>
        <a:xfrm>
          <a:off x="0" y="0"/>
          <a:ext cx="0" cy="0"/>
          <a:chOff x="0" y="0"/>
          <a:chExt cx="0" cy="0"/>
        </a:xfrm>
      </p:grpSpPr>
      <p:pic>
        <p:nvPicPr>
          <p:cNvPr id="77" name="Google Shape;77;p23"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78" name="Google Shape;78;p23"/>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3"/>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0" name="Google Shape;8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83" name="Google Shape;83;p23"/>
          <p:cNvPicPr preferRelativeResize="0"/>
          <p:nvPr/>
        </p:nvPicPr>
        <p:blipFill rotWithShape="1">
          <a:blip r:embed="rId3">
            <a:alphaModFix/>
          </a:blip>
          <a:srcRect/>
          <a:stretch/>
        </p:blipFill>
        <p:spPr>
          <a:xfrm>
            <a:off x="433178" y="329805"/>
            <a:ext cx="6048812" cy="831025"/>
          </a:xfrm>
          <a:prstGeom prst="rect">
            <a:avLst/>
          </a:prstGeom>
          <a:noFill/>
          <a:ln>
            <a:noFill/>
          </a:ln>
        </p:spPr>
      </p:pic>
      <p:pic>
        <p:nvPicPr>
          <p:cNvPr id="84" name="Google Shape;84;p23"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ĐT">
  <p:cSld name="DĐT">
    <p:spTree>
      <p:nvGrpSpPr>
        <p:cNvPr id="1" name="Shape 85"/>
        <p:cNvGrpSpPr/>
        <p:nvPr/>
      </p:nvGrpSpPr>
      <p:grpSpPr>
        <a:xfrm>
          <a:off x="0" y="0"/>
          <a:ext cx="0" cy="0"/>
          <a:chOff x="0" y="0"/>
          <a:chExt cx="0" cy="0"/>
        </a:xfrm>
      </p:grpSpPr>
      <p:pic>
        <p:nvPicPr>
          <p:cNvPr id="86" name="Google Shape;86;p24"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87" name="Google Shape;87;p24"/>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4"/>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9" name="Google Shape;8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4"/>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92" name="Google Shape;92;p24"/>
          <p:cNvPicPr preferRelativeResize="0"/>
          <p:nvPr/>
        </p:nvPicPr>
        <p:blipFill rotWithShape="1">
          <a:blip r:embed="rId3">
            <a:alphaModFix/>
          </a:blip>
          <a:srcRect/>
          <a:stretch/>
        </p:blipFill>
        <p:spPr>
          <a:xfrm>
            <a:off x="433178" y="329805"/>
            <a:ext cx="6048812" cy="831024"/>
          </a:xfrm>
          <a:prstGeom prst="rect">
            <a:avLst/>
          </a:prstGeom>
          <a:noFill/>
          <a:ln>
            <a:noFill/>
          </a:ln>
        </p:spPr>
      </p:pic>
      <p:pic>
        <p:nvPicPr>
          <p:cNvPr id="93" name="Google Shape;93;p24"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NHH &amp;MT">
  <p:cSld name="CNHH &amp;MT">
    <p:spTree>
      <p:nvGrpSpPr>
        <p:cNvPr id="1" name="Shape 94"/>
        <p:cNvGrpSpPr/>
        <p:nvPr/>
      </p:nvGrpSpPr>
      <p:grpSpPr>
        <a:xfrm>
          <a:off x="0" y="0"/>
          <a:ext cx="0" cy="0"/>
          <a:chOff x="0" y="0"/>
          <a:chExt cx="0" cy="0"/>
        </a:xfrm>
      </p:grpSpPr>
      <p:pic>
        <p:nvPicPr>
          <p:cNvPr id="95" name="Google Shape;95;p25"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96" name="Google Shape;96;p25"/>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Times New Roman"/>
              <a:buNone/>
              <a:defRPr sz="48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5"/>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01" name="Google Shape;101;p25"/>
          <p:cNvPicPr preferRelativeResize="0"/>
          <p:nvPr/>
        </p:nvPicPr>
        <p:blipFill rotWithShape="1">
          <a:blip r:embed="rId3">
            <a:alphaModFix/>
          </a:blip>
          <a:srcRect/>
          <a:stretch/>
        </p:blipFill>
        <p:spPr>
          <a:xfrm>
            <a:off x="433178" y="334428"/>
            <a:ext cx="6048812" cy="821778"/>
          </a:xfrm>
          <a:prstGeom prst="rect">
            <a:avLst/>
          </a:prstGeom>
          <a:noFill/>
          <a:ln>
            <a:noFill/>
          </a:ln>
        </p:spPr>
      </p:pic>
      <p:pic>
        <p:nvPicPr>
          <p:cNvPr id="102" name="Google Shape;102;p25"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N">
  <p:cSld name="NN">
    <p:spTree>
      <p:nvGrpSpPr>
        <p:cNvPr id="1" name="Shape 103"/>
        <p:cNvGrpSpPr/>
        <p:nvPr/>
      </p:nvGrpSpPr>
      <p:grpSpPr>
        <a:xfrm>
          <a:off x="0" y="0"/>
          <a:ext cx="0" cy="0"/>
          <a:chOff x="0" y="0"/>
          <a:chExt cx="0" cy="0"/>
        </a:xfrm>
      </p:grpSpPr>
      <p:pic>
        <p:nvPicPr>
          <p:cNvPr id="104" name="Google Shape;104;p26"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105" name="Google Shape;105;p26"/>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Times New Roman"/>
              <a:buNone/>
              <a:defRPr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6"/>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7" name="Google Shape;10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6"/>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10" name="Google Shape;110;p26"/>
          <p:cNvPicPr preferRelativeResize="0"/>
          <p:nvPr/>
        </p:nvPicPr>
        <p:blipFill rotWithShape="1">
          <a:blip r:embed="rId3">
            <a:alphaModFix/>
          </a:blip>
          <a:srcRect/>
          <a:stretch/>
        </p:blipFill>
        <p:spPr>
          <a:xfrm>
            <a:off x="463289" y="334428"/>
            <a:ext cx="5988589" cy="821778"/>
          </a:xfrm>
          <a:prstGeom prst="rect">
            <a:avLst/>
          </a:prstGeom>
          <a:noFill/>
          <a:ln>
            <a:noFill/>
          </a:ln>
        </p:spPr>
      </p:pic>
      <p:pic>
        <p:nvPicPr>
          <p:cNvPr id="111" name="Google Shape;111;p26"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T">
  <p:cSld name="KT">
    <p:spTree>
      <p:nvGrpSpPr>
        <p:cNvPr id="1" name="Shape 112"/>
        <p:cNvGrpSpPr/>
        <p:nvPr/>
      </p:nvGrpSpPr>
      <p:grpSpPr>
        <a:xfrm>
          <a:off x="0" y="0"/>
          <a:ext cx="0" cy="0"/>
          <a:chOff x="0" y="0"/>
          <a:chExt cx="0" cy="0"/>
        </a:xfrm>
      </p:grpSpPr>
      <p:pic>
        <p:nvPicPr>
          <p:cNvPr id="113" name="Google Shape;113;p27"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114" name="Google Shape;114;p27"/>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Times New Roman"/>
              <a:buNone/>
              <a:defRPr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7"/>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6" name="Google Shape;11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7"/>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19" name="Google Shape;119;p27"/>
          <p:cNvPicPr preferRelativeResize="0"/>
          <p:nvPr/>
        </p:nvPicPr>
        <p:blipFill rotWithShape="1">
          <a:blip r:embed="rId3">
            <a:alphaModFix/>
          </a:blip>
          <a:srcRect/>
          <a:stretch/>
        </p:blipFill>
        <p:spPr>
          <a:xfrm>
            <a:off x="466831" y="334428"/>
            <a:ext cx="5981505" cy="821778"/>
          </a:xfrm>
          <a:prstGeom prst="rect">
            <a:avLst/>
          </a:prstGeom>
          <a:noFill/>
          <a:ln>
            <a:noFill/>
          </a:ln>
        </p:spPr>
      </p:pic>
      <p:pic>
        <p:nvPicPr>
          <p:cNvPr id="120" name="Google Shape;120;p27"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PKT">
  <p:cSld name="SPKT">
    <p:spTree>
      <p:nvGrpSpPr>
        <p:cNvPr id="1" name="Shape 121"/>
        <p:cNvGrpSpPr/>
        <p:nvPr/>
      </p:nvGrpSpPr>
      <p:grpSpPr>
        <a:xfrm>
          <a:off x="0" y="0"/>
          <a:ext cx="0" cy="0"/>
          <a:chOff x="0" y="0"/>
          <a:chExt cx="0" cy="0"/>
        </a:xfrm>
      </p:grpSpPr>
      <p:pic>
        <p:nvPicPr>
          <p:cNvPr id="122" name="Google Shape;122;p28"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123" name="Google Shape;123;p28"/>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Times New Roman"/>
              <a:buNone/>
              <a:defRPr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28"/>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5" name="Google Shape;12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8"/>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28" name="Google Shape;128;p28"/>
          <p:cNvPicPr preferRelativeResize="0"/>
          <p:nvPr/>
        </p:nvPicPr>
        <p:blipFill rotWithShape="1">
          <a:blip r:embed="rId3">
            <a:alphaModFix/>
          </a:blip>
          <a:srcRect/>
          <a:stretch/>
        </p:blipFill>
        <p:spPr>
          <a:xfrm>
            <a:off x="466831" y="334833"/>
            <a:ext cx="5981505" cy="820967"/>
          </a:xfrm>
          <a:prstGeom prst="rect">
            <a:avLst/>
          </a:prstGeom>
          <a:noFill/>
          <a:ln>
            <a:noFill/>
          </a:ln>
        </p:spPr>
      </p:pic>
      <p:pic>
        <p:nvPicPr>
          <p:cNvPr id="129" name="Google Shape;129;p28"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LCT">
  <p:cSld name="LLCT">
    <p:spTree>
      <p:nvGrpSpPr>
        <p:cNvPr id="1" name="Shape 130"/>
        <p:cNvGrpSpPr/>
        <p:nvPr/>
      </p:nvGrpSpPr>
      <p:grpSpPr>
        <a:xfrm>
          <a:off x="0" y="0"/>
          <a:ext cx="0" cy="0"/>
          <a:chOff x="0" y="0"/>
          <a:chExt cx="0" cy="0"/>
        </a:xfrm>
      </p:grpSpPr>
      <p:pic>
        <p:nvPicPr>
          <p:cNvPr id="131" name="Google Shape;131;p29"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132" name="Google Shape;132;p29"/>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Times New Roman"/>
              <a:buNone/>
              <a:defRPr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9"/>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4" name="Google Shape;13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9"/>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37" name="Google Shape;137;p29"/>
          <p:cNvPicPr preferRelativeResize="0"/>
          <p:nvPr/>
        </p:nvPicPr>
        <p:blipFill rotWithShape="1">
          <a:blip r:embed="rId3">
            <a:alphaModFix/>
          </a:blip>
          <a:srcRect/>
          <a:stretch/>
        </p:blipFill>
        <p:spPr>
          <a:xfrm>
            <a:off x="469782" y="334833"/>
            <a:ext cx="5975602" cy="820967"/>
          </a:xfrm>
          <a:prstGeom prst="rect">
            <a:avLst/>
          </a:prstGeom>
          <a:noFill/>
          <a:ln>
            <a:noFill/>
          </a:ln>
        </p:spPr>
      </p:pic>
      <p:pic>
        <p:nvPicPr>
          <p:cNvPr id="138" name="Google Shape;138;p29"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GDTC&amp;QP">
  <p:cSld name="GDTC&amp;QP">
    <p:spTree>
      <p:nvGrpSpPr>
        <p:cNvPr id="1" name="Shape 139"/>
        <p:cNvGrpSpPr/>
        <p:nvPr/>
      </p:nvGrpSpPr>
      <p:grpSpPr>
        <a:xfrm>
          <a:off x="0" y="0"/>
          <a:ext cx="0" cy="0"/>
          <a:chOff x="0" y="0"/>
          <a:chExt cx="0" cy="0"/>
        </a:xfrm>
      </p:grpSpPr>
      <p:pic>
        <p:nvPicPr>
          <p:cNvPr id="140" name="Google Shape;140;p30" descr="A black background with lines  Description automatically generated"/>
          <p:cNvPicPr preferRelativeResize="0"/>
          <p:nvPr/>
        </p:nvPicPr>
        <p:blipFill rotWithShape="1">
          <a:blip r:embed="rId2">
            <a:alphaModFix/>
          </a:blip>
          <a:srcRect/>
          <a:stretch/>
        </p:blipFill>
        <p:spPr>
          <a:xfrm>
            <a:off x="-1" y="0"/>
            <a:ext cx="13719239" cy="6858000"/>
          </a:xfrm>
          <a:prstGeom prst="rect">
            <a:avLst/>
          </a:prstGeom>
          <a:noFill/>
          <a:ln>
            <a:noFill/>
          </a:ln>
        </p:spPr>
      </p:pic>
      <p:sp>
        <p:nvSpPr>
          <p:cNvPr id="141" name="Google Shape;141;p30"/>
          <p:cNvSpPr txBox="1">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Times New Roman"/>
              <a:buNone/>
              <a:defRPr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0"/>
          <p:cNvSpPr txBox="1">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800"/>
              <a:buNone/>
              <a:defRPr sz="28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3" name="Google Shape;143;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0"/>
          <p:cNvSpPr txBox="1">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46" name="Google Shape;146;p30"/>
          <p:cNvPicPr preferRelativeResize="0"/>
          <p:nvPr/>
        </p:nvPicPr>
        <p:blipFill rotWithShape="1">
          <a:blip r:embed="rId3">
            <a:alphaModFix/>
          </a:blip>
          <a:srcRect/>
          <a:stretch/>
        </p:blipFill>
        <p:spPr>
          <a:xfrm>
            <a:off x="469782" y="338765"/>
            <a:ext cx="5975602" cy="813102"/>
          </a:xfrm>
          <a:prstGeom prst="rect">
            <a:avLst/>
          </a:prstGeom>
          <a:noFill/>
          <a:ln>
            <a:noFill/>
          </a:ln>
        </p:spPr>
      </p:pic>
      <p:pic>
        <p:nvPicPr>
          <p:cNvPr id="147" name="Google Shape;147;p30" descr="A collage of buildings  Description automatically generated"/>
          <p:cNvPicPr preferRelativeResize="0"/>
          <p:nvPr/>
        </p:nvPicPr>
        <p:blipFill rotWithShape="1">
          <a:blip r:embed="rId4">
            <a:alphaModFix/>
          </a:blip>
          <a:srcRect/>
          <a:stretch/>
        </p:blipFill>
        <p:spPr>
          <a:xfrm>
            <a:off x="6696445" y="426461"/>
            <a:ext cx="5495555" cy="603200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48"/>
        <p:cNvGrpSpPr/>
        <p:nvPr/>
      </p:nvGrpSpPr>
      <p:grpSpPr>
        <a:xfrm>
          <a:off x="0" y="0"/>
          <a:ext cx="0" cy="0"/>
          <a:chOff x="0" y="0"/>
          <a:chExt cx="0" cy="0"/>
        </a:xfrm>
      </p:grpSpPr>
      <p:pic>
        <p:nvPicPr>
          <p:cNvPr id="149" name="Google Shape;149;p31"/>
          <p:cNvPicPr preferRelativeResize="0"/>
          <p:nvPr/>
        </p:nvPicPr>
        <p:blipFill rotWithShape="1">
          <a:blip r:embed="rId2">
            <a:alphaModFix/>
          </a:blip>
          <a:srcRect/>
          <a:stretch/>
        </p:blipFill>
        <p:spPr>
          <a:xfrm>
            <a:off x="1229" y="0"/>
            <a:ext cx="12189542" cy="6857999"/>
          </a:xfrm>
          <a:prstGeom prst="rect">
            <a:avLst/>
          </a:prstGeom>
          <a:noFill/>
          <a:ln>
            <a:noFill/>
          </a:ln>
        </p:spPr>
      </p:pic>
      <p:sp>
        <p:nvSpPr>
          <p:cNvPr id="150" name="Google Shape;150;p31"/>
          <p:cNvSpPr txBox="1">
            <a:spLocks noGrp="1"/>
          </p:cNvSpPr>
          <p:nvPr>
            <p:ph type="title"/>
          </p:nvPr>
        </p:nvSpPr>
        <p:spPr>
          <a:xfrm>
            <a:off x="230819" y="1"/>
            <a:ext cx="9619238" cy="6810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31"/>
          <p:cNvSpPr txBox="1">
            <a:spLocks noGrp="1"/>
          </p:cNvSpPr>
          <p:nvPr>
            <p:ph type="body" idx="1"/>
          </p:nvPr>
        </p:nvSpPr>
        <p:spPr>
          <a:xfrm>
            <a:off x="230819" y="775504"/>
            <a:ext cx="11771791" cy="540145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31"/>
          <p:cNvSpPr txBox="1">
            <a:spLocks noGrp="1"/>
          </p:cNvSpPr>
          <p:nvPr>
            <p:ph type="dt" idx="10"/>
          </p:nvPr>
        </p:nvSpPr>
        <p:spPr>
          <a:xfrm>
            <a:off x="230819" y="6334918"/>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31"/>
          <p:cNvSpPr txBox="1">
            <a:spLocks noGrp="1"/>
          </p:cNvSpPr>
          <p:nvPr>
            <p:ph type="ftr" idx="11"/>
          </p:nvPr>
        </p:nvSpPr>
        <p:spPr>
          <a:xfrm>
            <a:off x="3734909"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31"/>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r">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r">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r">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r">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r">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r">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r">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r">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vi-VN"/>
              <a:t>‹#›</a:t>
            </a:fld>
            <a:endParaRPr/>
          </a:p>
        </p:txBody>
      </p:sp>
      <p:pic>
        <p:nvPicPr>
          <p:cNvPr id="155" name="Google Shape;155;p31" descr="A person holding a card with a bouquet of flowers  Description automatically generated"/>
          <p:cNvPicPr preferRelativeResize="0"/>
          <p:nvPr/>
        </p:nvPicPr>
        <p:blipFill rotWithShape="1">
          <a:blip r:embed="rId3">
            <a:alphaModFix/>
          </a:blip>
          <a:srcRect/>
          <a:stretch/>
        </p:blipFill>
        <p:spPr>
          <a:xfrm>
            <a:off x="-8877" y="707671"/>
            <a:ext cx="12189541" cy="615005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6"/>
        <p:cNvGrpSpPr/>
        <p:nvPr/>
      </p:nvGrpSpPr>
      <p:grpSpPr>
        <a:xfrm>
          <a:off x="0" y="0"/>
          <a:ext cx="0" cy="0"/>
          <a:chOff x="0" y="0"/>
          <a:chExt cx="0" cy="0"/>
        </a:xfrm>
      </p:grpSpPr>
      <p:sp>
        <p:nvSpPr>
          <p:cNvPr id="157" name="Google Shape;157;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9" name="Google Shape;15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2"/>
        <p:cNvGrpSpPr/>
        <p:nvPr/>
      </p:nvGrpSpPr>
      <p:grpSpPr>
        <a:xfrm>
          <a:off x="0" y="0"/>
          <a:ext cx="0" cy="0"/>
          <a:chOff x="0" y="0"/>
          <a:chExt cx="0" cy="0"/>
        </a:xfrm>
      </p:grpSpPr>
      <p:sp>
        <p:nvSpPr>
          <p:cNvPr id="163" name="Google Shape;163;p33"/>
          <p:cNvSpPr txBox="1">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3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5" name="Google Shape;165;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69"/>
        <p:cNvGrpSpPr/>
        <p:nvPr/>
      </p:nvGrpSpPr>
      <p:grpSpPr>
        <a:xfrm>
          <a:off x="0" y="0"/>
          <a:ext cx="0" cy="0"/>
          <a:chOff x="0" y="0"/>
          <a:chExt cx="0" cy="0"/>
        </a:xfrm>
      </p:grpSpPr>
      <p:sp>
        <p:nvSpPr>
          <p:cNvPr id="170" name="Google Shape;170;p3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3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2" name="Google Shape;172;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4" name="Google Shape;174;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5" name="Google Shape;17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8"/>
        <p:cNvGrpSpPr/>
        <p:nvPr/>
      </p:nvGrpSpPr>
      <p:grpSpPr>
        <a:xfrm>
          <a:off x="0" y="0"/>
          <a:ext cx="0" cy="0"/>
          <a:chOff x="0" y="0"/>
          <a:chExt cx="0" cy="0"/>
        </a:xfrm>
      </p:grpSpPr>
      <p:sp>
        <p:nvSpPr>
          <p:cNvPr id="179" name="Google Shape;179;p35"/>
          <p:cNvSpPr txBox="1">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3"/>
        <p:cNvGrpSpPr/>
        <p:nvPr/>
      </p:nvGrpSpPr>
      <p:grpSpPr>
        <a:xfrm>
          <a:off x="0" y="0"/>
          <a:ext cx="0" cy="0"/>
          <a:chOff x="0" y="0"/>
          <a:chExt cx="0" cy="0"/>
        </a:xfrm>
      </p:grpSpPr>
      <p:sp>
        <p:nvSpPr>
          <p:cNvPr id="184" name="Google Shape;184;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grpSp>
        <p:nvGrpSpPr>
          <p:cNvPr id="187" name="Google Shape;187;p36"/>
          <p:cNvGrpSpPr/>
          <p:nvPr/>
        </p:nvGrpSpPr>
        <p:grpSpPr>
          <a:xfrm>
            <a:off x="5448722" y="-1573115"/>
            <a:ext cx="11197479" cy="9289946"/>
            <a:chOff x="5686033" y="-185752"/>
            <a:chExt cx="7834656" cy="6499993"/>
          </a:xfrm>
        </p:grpSpPr>
        <p:sp>
          <p:nvSpPr>
            <p:cNvPr id="188" name="Google Shape;188;p36"/>
            <p:cNvSpPr/>
            <p:nvPr/>
          </p:nvSpPr>
          <p:spPr>
            <a:xfrm rot="2700000">
              <a:off x="5765711" y="1908218"/>
              <a:ext cx="384721" cy="384721"/>
            </a:xfrm>
            <a:prstGeom prst="rect">
              <a:avLst/>
            </a:prstGeom>
            <a:solidFill>
              <a:srgbClr val="00B0F0"/>
            </a:soli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Calibri"/>
                <a:ea typeface="Calibri"/>
                <a:cs typeface="Calibri"/>
                <a:sym typeface="Calibri"/>
              </a:endParaRPr>
            </a:p>
          </p:txBody>
        </p:sp>
        <p:sp>
          <p:nvSpPr>
            <p:cNvPr id="189" name="Google Shape;189;p36"/>
            <p:cNvSpPr/>
            <p:nvPr/>
          </p:nvSpPr>
          <p:spPr>
            <a:xfrm rot="2700000">
              <a:off x="6152172" y="2195720"/>
              <a:ext cx="1737049" cy="1737049"/>
            </a:xfrm>
            <a:prstGeom prst="rect">
              <a:avLst/>
            </a:prstGeom>
            <a:solidFill>
              <a:srgbClr val="00B050"/>
            </a:soli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Calibri"/>
                <a:ea typeface="Calibri"/>
                <a:cs typeface="Calibri"/>
                <a:sym typeface="Calibri"/>
              </a:endParaRPr>
            </a:p>
          </p:txBody>
        </p:sp>
        <p:sp>
          <p:nvSpPr>
            <p:cNvPr id="190" name="Google Shape;190;p36"/>
            <p:cNvSpPr/>
            <p:nvPr/>
          </p:nvSpPr>
          <p:spPr>
            <a:xfrm rot="2700000">
              <a:off x="7310581" y="3251267"/>
              <a:ext cx="1487359" cy="1487359"/>
            </a:xfrm>
            <a:prstGeom prst="rect">
              <a:avLst/>
            </a:prstGeom>
            <a:solidFill>
              <a:srgbClr val="00B0F0"/>
            </a:soli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Calibri"/>
                <a:ea typeface="Calibri"/>
                <a:cs typeface="Calibri"/>
                <a:sym typeface="Calibri"/>
              </a:endParaRPr>
            </a:p>
          </p:txBody>
        </p:sp>
        <p:sp>
          <p:nvSpPr>
            <p:cNvPr id="191" name="Google Shape;191;p36"/>
            <p:cNvSpPr/>
            <p:nvPr/>
          </p:nvSpPr>
          <p:spPr>
            <a:xfrm rot="2700000">
              <a:off x="7972598" y="766150"/>
              <a:ext cx="4596189" cy="4596189"/>
            </a:xfrm>
            <a:prstGeom prst="rect">
              <a:avLst/>
            </a:prstGeom>
            <a:gradFill>
              <a:gsLst>
                <a:gs pos="0">
                  <a:srgbClr val="F08B54"/>
                </a:gs>
                <a:gs pos="50000">
                  <a:srgbClr val="F67A26"/>
                </a:gs>
                <a:gs pos="100000">
                  <a:srgbClr val="E36A18"/>
                </a:gs>
              </a:gsLst>
              <a:lin ang="5400000" scaled="0"/>
            </a:gra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2" name="Google Shape;192;p36"/>
            <p:cNvSpPr/>
            <p:nvPr/>
          </p:nvSpPr>
          <p:spPr>
            <a:xfrm rot="2700000">
              <a:off x="6728295" y="2190471"/>
              <a:ext cx="1747549" cy="1747549"/>
            </a:xfrm>
            <a:prstGeom prst="rect">
              <a:avLst/>
            </a:prstGeom>
            <a:solidFill>
              <a:schemeClr val="lt1"/>
            </a:soli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Calibri"/>
                <a:ea typeface="Calibri"/>
                <a:cs typeface="Calibri"/>
                <a:sym typeface="Calibri"/>
              </a:endParaRPr>
            </a:p>
          </p:txBody>
        </p:sp>
        <p:sp>
          <p:nvSpPr>
            <p:cNvPr id="193" name="Google Shape;193;p36"/>
            <p:cNvSpPr/>
            <p:nvPr/>
          </p:nvSpPr>
          <p:spPr>
            <a:xfrm rot="2700000">
              <a:off x="6248428" y="4310369"/>
              <a:ext cx="544142" cy="544142"/>
            </a:xfrm>
            <a:prstGeom prst="rect">
              <a:avLst/>
            </a:prstGeom>
            <a:gradFill>
              <a:gsLst>
                <a:gs pos="0">
                  <a:srgbClr val="FFC647"/>
                </a:gs>
                <a:gs pos="50000">
                  <a:srgbClr val="FFC600"/>
                </a:gs>
                <a:gs pos="100000">
                  <a:srgbClr val="E3B400"/>
                </a:gs>
              </a:gsLst>
              <a:lin ang="5400000" scaled="0"/>
            </a:gradFill>
            <a:ln>
              <a:noFill/>
            </a:ln>
            <a:effectLst>
              <a:outerShdw blurRad="57150" dist="19050" dir="5400000" algn="ctr" rotWithShape="0">
                <a:srgbClr val="000000">
                  <a:alpha val="6313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94"/>
        <p:cNvGrpSpPr/>
        <p:nvPr/>
      </p:nvGrpSpPr>
      <p:grpSpPr>
        <a:xfrm>
          <a:off x="0" y="0"/>
          <a:ext cx="0" cy="0"/>
          <a:chOff x="0" y="0"/>
          <a:chExt cx="0" cy="0"/>
        </a:xfrm>
      </p:grpSpPr>
      <p:sp>
        <p:nvSpPr>
          <p:cNvPr id="195" name="Google Shape;195;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3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97" name="Google Shape;197;p3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8" name="Google Shape;19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01"/>
        <p:cNvGrpSpPr/>
        <p:nvPr/>
      </p:nvGrpSpPr>
      <p:grpSpPr>
        <a:xfrm>
          <a:off x="0" y="0"/>
          <a:ext cx="0" cy="0"/>
          <a:chOff x="0" y="0"/>
          <a:chExt cx="0" cy="0"/>
        </a:xfrm>
      </p:grpSpPr>
      <p:sp>
        <p:nvSpPr>
          <p:cNvPr id="202" name="Google Shape;202;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3" name="Google Shape;203;p38"/>
          <p:cNvSpPr>
            <a:spLocks noGrp="1"/>
          </p:cNvSpPr>
          <p:nvPr>
            <p:ph type="pic" idx="2"/>
          </p:nvPr>
        </p:nvSpPr>
        <p:spPr>
          <a:xfrm>
            <a:off x="5183188" y="987425"/>
            <a:ext cx="6172200" cy="4873625"/>
          </a:xfrm>
          <a:prstGeom prst="rect">
            <a:avLst/>
          </a:prstGeom>
          <a:noFill/>
          <a:ln>
            <a:noFill/>
          </a:ln>
        </p:spPr>
      </p:sp>
      <p:sp>
        <p:nvSpPr>
          <p:cNvPr id="204" name="Google Shape;204;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5" name="Google Shape;205;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08"/>
        <p:cNvGrpSpPr/>
        <p:nvPr/>
      </p:nvGrpSpPr>
      <p:grpSpPr>
        <a:xfrm>
          <a:off x="0" y="0"/>
          <a:ext cx="0" cy="0"/>
          <a:chOff x="0" y="0"/>
          <a:chExt cx="0" cy="0"/>
        </a:xfrm>
      </p:grpSpPr>
      <p:sp>
        <p:nvSpPr>
          <p:cNvPr id="209" name="Google Shape;209;p39"/>
          <p:cNvSpPr txBox="1">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39"/>
          <p:cNvSpPr txBox="1">
            <a:spLocks noGrp="1"/>
          </p:cNvSpPr>
          <p:nvPr>
            <p:ph type="body" idx="1"/>
          </p:nvPr>
        </p:nvSpPr>
        <p:spPr>
          <a:xfrm rot="5400000">
            <a:off x="3395271" y="-1781566"/>
            <a:ext cx="5401459"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4"/>
        <p:cNvGrpSpPr/>
        <p:nvPr/>
      </p:nvGrpSpPr>
      <p:grpSpPr>
        <a:xfrm>
          <a:off x="0" y="0"/>
          <a:ext cx="0" cy="0"/>
          <a:chOff x="0" y="0"/>
          <a:chExt cx="0" cy="0"/>
        </a:xfrm>
      </p:grpSpPr>
      <p:sp>
        <p:nvSpPr>
          <p:cNvPr id="215" name="Google Shape;215;p4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 name="Google Shape;216;p4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000"/>
              <a:buFont typeface="Times New Roman"/>
              <a:buNone/>
              <a:defRPr sz="4000" b="0"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838200" y="775504"/>
            <a:ext cx="10515600" cy="540145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
          <p:cNvSpPr txBox="1">
            <a:spLocks noGrp="1"/>
          </p:cNvSpPr>
          <p:nvPr>
            <p:ph type="ctrTitle"/>
          </p:nvPr>
        </p:nvSpPr>
        <p:spPr>
          <a:xfrm>
            <a:off x="217087" y="1337602"/>
            <a:ext cx="8312785" cy="1936750"/>
          </a:xfrm>
          <a:prstGeom prst="rect">
            <a:avLst/>
          </a:prstGeom>
          <a:noFill/>
          <a:ln>
            <a:noFill/>
          </a:ln>
        </p:spPr>
        <p:txBody>
          <a:bodyPr spcFirstLastPara="1" wrap="square" lIns="91425" tIns="45700" rIns="91425" bIns="45700" anchor="ctr" anchorCtr="0">
            <a:noAutofit/>
          </a:bodyPr>
          <a:lstStyle/>
          <a:p>
            <a:pPr algn="l"/>
            <a:r>
              <a:rPr lang="en-US" sz="4000" b="1" dirty="0"/>
              <a:t>XÂY DỰNG CHƯƠNG TRÌNH</a:t>
            </a:r>
            <a:br>
              <a:rPr lang="en-US" sz="4000" dirty="0"/>
            </a:br>
            <a:r>
              <a:rPr lang="en-US" sz="4000" b="1" dirty="0"/>
              <a:t>QUẢN LÝ THƯ VIỆN ĐHSPKT HƯNG YÊN</a:t>
            </a:r>
            <a:endParaRPr sz="4000" b="0" dirty="0">
              <a:latin typeface="Times New Roman" panose="02020603050405020304" pitchFamily="18" charset="0"/>
              <a:ea typeface="Verdana"/>
              <a:cs typeface="Times New Roman" panose="02020603050405020304" pitchFamily="18" charset="0"/>
              <a:sym typeface="Verdana"/>
            </a:endParaRPr>
          </a:p>
        </p:txBody>
      </p:sp>
      <p:sp>
        <p:nvSpPr>
          <p:cNvPr id="225" name="Google Shape;225;p1"/>
          <p:cNvSpPr txBox="1">
            <a:spLocks noGrp="1"/>
          </p:cNvSpPr>
          <p:nvPr>
            <p:ph type="subTitle" idx="1"/>
          </p:nvPr>
        </p:nvSpPr>
        <p:spPr>
          <a:xfrm>
            <a:off x="217087" y="4248114"/>
            <a:ext cx="6620386" cy="165576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vi-VN" sz="2000" b="1" dirty="0">
                <a:latin typeface="Times New Roman" panose="02020603050405020304" pitchFamily="18" charset="0"/>
                <a:ea typeface="Verdana"/>
                <a:cs typeface="Times New Roman" panose="02020603050405020304" pitchFamily="18" charset="0"/>
                <a:sym typeface="Verdana"/>
              </a:rPr>
              <a:t>Sinh viên thực hiện: </a:t>
            </a:r>
            <a:r>
              <a:rPr lang="en-US" sz="2000" b="0" dirty="0">
                <a:latin typeface="Times New Roman" panose="02020603050405020304" pitchFamily="18" charset="0"/>
                <a:ea typeface="Verdana"/>
                <a:cs typeface="Times New Roman" panose="02020603050405020304" pitchFamily="18" charset="0"/>
                <a:sym typeface="Verdana"/>
              </a:rPr>
              <a:t>Nguyễn Anh Quân</a:t>
            </a:r>
            <a:endParaRPr sz="2000" b="0" dirty="0">
              <a:latin typeface="Times New Roman" panose="02020603050405020304" pitchFamily="18" charset="0"/>
              <a:ea typeface="Verdana"/>
              <a:cs typeface="Times New Roman" panose="02020603050405020304" pitchFamily="18" charset="0"/>
              <a:sym typeface="Verdana"/>
            </a:endParaRPr>
          </a:p>
          <a:p>
            <a:pPr marL="0" lvl="0" indent="0" algn="l" rtl="0">
              <a:lnSpc>
                <a:spcPct val="90000"/>
              </a:lnSpc>
              <a:spcBef>
                <a:spcPts val="1000"/>
              </a:spcBef>
              <a:spcAft>
                <a:spcPts val="0"/>
              </a:spcAft>
              <a:buClr>
                <a:schemeClr val="dk1"/>
              </a:buClr>
              <a:buSzPts val="2000"/>
              <a:buNone/>
            </a:pPr>
            <a:r>
              <a:rPr lang="vi-VN" sz="2000" b="1" dirty="0">
                <a:latin typeface="Times New Roman" panose="02020603050405020304" pitchFamily="18" charset="0"/>
                <a:ea typeface="Verdana"/>
                <a:cs typeface="Times New Roman" panose="02020603050405020304" pitchFamily="18" charset="0"/>
                <a:sym typeface="Verdana"/>
              </a:rPr>
              <a:t>Mã lớp:</a:t>
            </a:r>
            <a:r>
              <a:rPr lang="vi-VN" sz="2000" b="0" dirty="0">
                <a:latin typeface="Times New Roman" panose="02020603050405020304" pitchFamily="18" charset="0"/>
                <a:ea typeface="Verdana"/>
                <a:cs typeface="Times New Roman" panose="02020603050405020304" pitchFamily="18" charset="0"/>
                <a:sym typeface="Verdana"/>
              </a:rPr>
              <a:t> </a:t>
            </a:r>
            <a:r>
              <a:rPr lang="en-US" sz="2000" b="0" dirty="0">
                <a:latin typeface="Times New Roman" panose="02020603050405020304" pitchFamily="18" charset="0"/>
                <a:ea typeface="Verdana"/>
                <a:cs typeface="Times New Roman" panose="02020603050405020304" pitchFamily="18" charset="0"/>
                <a:sym typeface="Verdana"/>
              </a:rPr>
              <a:t>12524W.2</a:t>
            </a:r>
            <a:endParaRPr sz="2000" b="0" dirty="0">
              <a:latin typeface="Times New Roman" panose="02020603050405020304" pitchFamily="18" charset="0"/>
              <a:ea typeface="Verdana"/>
              <a:cs typeface="Times New Roman" panose="02020603050405020304" pitchFamily="18" charset="0"/>
              <a:sym typeface="Verdana"/>
            </a:endParaRPr>
          </a:p>
          <a:p>
            <a:pPr marL="0" lvl="0" indent="0" algn="l" rtl="0">
              <a:lnSpc>
                <a:spcPct val="90000"/>
              </a:lnSpc>
              <a:spcBef>
                <a:spcPts val="1000"/>
              </a:spcBef>
              <a:spcAft>
                <a:spcPts val="0"/>
              </a:spcAft>
              <a:buClr>
                <a:schemeClr val="dk1"/>
              </a:buClr>
              <a:buSzPts val="2000"/>
              <a:buNone/>
            </a:pPr>
            <a:r>
              <a:rPr lang="vi-VN" sz="2000" b="1" dirty="0">
                <a:latin typeface="Times New Roman" panose="02020603050405020304" pitchFamily="18" charset="0"/>
                <a:ea typeface="Verdana"/>
                <a:cs typeface="Times New Roman" panose="02020603050405020304" pitchFamily="18" charset="0"/>
                <a:sym typeface="Verdana"/>
              </a:rPr>
              <a:t>Giảng viên hướng dẫn: </a:t>
            </a:r>
            <a:r>
              <a:rPr lang="en-US" sz="2000" b="0" dirty="0">
                <a:latin typeface="Times New Roman" panose="02020603050405020304" pitchFamily="18" charset="0"/>
                <a:ea typeface="Verdana"/>
                <a:cs typeface="Times New Roman" panose="02020603050405020304" pitchFamily="18" charset="0"/>
                <a:sym typeface="Verdana"/>
              </a:rPr>
              <a:t>Hoàng Quốc Việt</a:t>
            </a:r>
            <a:endParaRPr sz="2000" b="0" dirty="0">
              <a:latin typeface="Times New Roman" panose="02020603050405020304" pitchFamily="18" charset="0"/>
              <a:ea typeface="Verdana"/>
              <a:cs typeface="Times New Roman" panose="02020603050405020304" pitchFamily="18" charset="0"/>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2</a:t>
            </a:fld>
            <a:endParaRPr sz="1400" b="0" i="0" u="none" strike="noStrike" cap="none">
              <a:solidFill>
                <a:schemeClr val="dk1"/>
              </a:solidFill>
              <a:latin typeface="Verdana"/>
              <a:ea typeface="Verdana"/>
              <a:cs typeface="Verdana"/>
              <a:sym typeface="Verdana"/>
            </a:endParaRPr>
          </a:p>
        </p:txBody>
      </p:sp>
      <p:sp>
        <p:nvSpPr>
          <p:cNvPr id="231" name="Google Shape;231;p2"/>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vi-VN" b="1" dirty="0">
                <a:latin typeface="Verdana"/>
                <a:ea typeface="Verdana"/>
                <a:cs typeface="Verdana"/>
                <a:sym typeface="Verdana"/>
              </a:rPr>
              <a:t>Nội Dung</a:t>
            </a:r>
            <a:endParaRPr b="1" dirty="0">
              <a:latin typeface="Verdana"/>
              <a:ea typeface="Verdana"/>
              <a:cs typeface="Verdana"/>
              <a:sym typeface="Verdana"/>
            </a:endParaRPr>
          </a:p>
        </p:txBody>
      </p:sp>
      <p:sp>
        <p:nvSpPr>
          <p:cNvPr id="232" name="Google Shape;232;p2"/>
          <p:cNvSpPr txBox="1">
            <a:spLocks noGrp="1"/>
          </p:cNvSpPr>
          <p:nvPr>
            <p:ph type="body" idx="1"/>
          </p:nvPr>
        </p:nvSpPr>
        <p:spPr>
          <a:xfrm>
            <a:off x="906236" y="1184989"/>
            <a:ext cx="10474778" cy="3701643"/>
          </a:xfrm>
          <a:prstGeom prst="rect">
            <a:avLst/>
          </a:prstGeom>
          <a:noFill/>
          <a:ln>
            <a:noFill/>
          </a:ln>
        </p:spPr>
        <p:txBody>
          <a:bodyPr spcFirstLastPara="1" wrap="square" lIns="91425" tIns="45700" rIns="91425" bIns="45700" anchor="t" anchorCtr="0">
            <a:normAutofit/>
          </a:bodyPr>
          <a:lstStyle/>
          <a:p>
            <a:r>
              <a:rPr lang="vi-VN" sz="2400" dirty="0">
                <a:latin typeface="Times New Roman" panose="02020603050405020304" pitchFamily="18" charset="0"/>
                <a:cs typeface="Times New Roman" panose="02020603050405020304" pitchFamily="18" charset="0"/>
              </a:rPr>
              <a:t>Lý do chọn đề tài</a:t>
            </a:r>
          </a:p>
          <a:p>
            <a:r>
              <a:rPr lang="vi-VN" sz="2400" dirty="0">
                <a:latin typeface="Times New Roman" panose="02020603050405020304" pitchFamily="18" charset="0"/>
                <a:cs typeface="Times New Roman" panose="02020603050405020304" pitchFamily="18" charset="0"/>
              </a:rPr>
              <a:t>Mục tiêu cần đạt được</a:t>
            </a:r>
          </a:p>
          <a:p>
            <a:r>
              <a:rPr lang="vi-VN" sz="2400" dirty="0">
                <a:latin typeface="Times New Roman" panose="02020603050405020304" pitchFamily="18" charset="0"/>
                <a:cs typeface="Times New Roman" panose="02020603050405020304" pitchFamily="18" charset="0"/>
              </a:rPr>
              <a:t>Xác định yêu cầu của hệ thống</a:t>
            </a:r>
          </a:p>
          <a:p>
            <a:r>
              <a:rPr lang="vi-VN" sz="2400" dirty="0">
                <a:latin typeface="Times New Roman" panose="02020603050405020304" pitchFamily="18" charset="0"/>
                <a:cs typeface="Times New Roman" panose="02020603050405020304" pitchFamily="18" charset="0"/>
              </a:rPr>
              <a:t>Phân tích và thiết kế hệ thống (biểu đồ usecase, biểu lớp</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a:t>
            </a:r>
          </a:p>
          <a:p>
            <a:r>
              <a:rPr lang="vi-VN" sz="2400" dirty="0">
                <a:latin typeface="Times New Roman" panose="02020603050405020304" pitchFamily="18" charset="0"/>
                <a:cs typeface="Times New Roman" panose="02020603050405020304" pitchFamily="18" charset="0"/>
              </a:rPr>
              <a:t>Thiết kế CSDL (trình bày biểu đồ mối quan hệ giữa các bảng)</a:t>
            </a:r>
          </a:p>
          <a:p>
            <a:r>
              <a:rPr lang="vi-VN" sz="2400" dirty="0">
                <a:latin typeface="Times New Roman" panose="02020603050405020304" pitchFamily="18" charset="0"/>
                <a:cs typeface="Times New Roman" panose="02020603050405020304" pitchFamily="18" charset="0"/>
              </a:rPr>
              <a:t>Một số giao diện chính của hệ thống</a:t>
            </a:r>
          </a:p>
          <a:p>
            <a:r>
              <a:rPr lang="vi-VN" sz="2400" dirty="0">
                <a:latin typeface="Times New Roman" panose="02020603050405020304" pitchFamily="18" charset="0"/>
                <a:cs typeface="Times New Roman" panose="02020603050405020304" pitchFamily="18" charset="0"/>
              </a:rPr>
              <a:t>Kết luận: Kết quả đạt được, hạn chế và hướng phát triển.</a:t>
            </a:r>
          </a:p>
          <a:p>
            <a:pPr marL="0" lvl="0" indent="0" algn="l" rtl="0">
              <a:lnSpc>
                <a:spcPct val="115000"/>
              </a:lnSpc>
              <a:spcBef>
                <a:spcPts val="1200"/>
              </a:spcBef>
              <a:spcAft>
                <a:spcPts val="0"/>
              </a:spcAft>
              <a:buClr>
                <a:schemeClr val="dk1"/>
              </a:buClr>
              <a:buSzPts val="2000"/>
              <a:buNone/>
            </a:pPr>
            <a:endParaRPr sz="2000" b="0" dirty="0">
              <a:latin typeface="Times New Roman"/>
              <a:ea typeface="Times New Roman"/>
              <a:cs typeface="Times New Roman"/>
              <a:sym typeface="Times New Roman"/>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vi-VN" b="1">
                <a:latin typeface="Verdana"/>
                <a:ea typeface="Verdana"/>
                <a:cs typeface="Verdana"/>
                <a:sym typeface="Verdana"/>
              </a:rPr>
              <a:t>Lý Do Chọn Đề Tài</a:t>
            </a:r>
            <a:endParaRPr b="1">
              <a:latin typeface="Verdana"/>
              <a:ea typeface="Verdana"/>
              <a:cs typeface="Verdana"/>
              <a:sym typeface="Verdana"/>
            </a:endParaRPr>
          </a:p>
        </p:txBody>
      </p:sp>
      <p:sp>
        <p:nvSpPr>
          <p:cNvPr id="238" name="Google Shape;238;p3"/>
          <p:cNvSpPr txBox="1">
            <a:spLocks noGrp="1"/>
          </p:cNvSpPr>
          <p:nvPr>
            <p:ph type="body" idx="1"/>
          </p:nvPr>
        </p:nvSpPr>
        <p:spPr>
          <a:xfrm>
            <a:off x="6495611" y="886834"/>
            <a:ext cx="5500000" cy="5328526"/>
          </a:xfrm>
          <a:prstGeom prst="rect">
            <a:avLst/>
          </a:prstGeom>
          <a:noFill/>
          <a:ln>
            <a:noFill/>
          </a:ln>
        </p:spPr>
        <p:txBody>
          <a:bodyPr spcFirstLastPara="1" wrap="square" lIns="91425" tIns="45700" rIns="91425" bIns="45700" anchor="t" anchorCtr="0">
            <a:normAutofit fontScale="92500"/>
          </a:bodyPr>
          <a:lstStyle/>
          <a:p>
            <a:pPr>
              <a:buFont typeface="Arial" panose="020B0604020202020204" pitchFamily="34" charset="0"/>
              <a:buChar char="•"/>
            </a:pPr>
            <a:r>
              <a:rPr lang="vi-VN" sz="2400" dirty="0"/>
              <a:t>Bối cảnh: Yêu cầu chuyển đổi số tại UTEHY nhằm hiện đại hóa và số hóa toàn bộ quy trình quản lý học liệu thư viện.</a:t>
            </a:r>
            <a:endParaRPr lang="en-US" sz="2400" dirty="0"/>
          </a:p>
          <a:p>
            <a:pPr>
              <a:buFont typeface="Arial" panose="020B0604020202020204" pitchFamily="34" charset="0"/>
              <a:buChar char="•"/>
            </a:pPr>
            <a:r>
              <a:rPr lang="vi-VN" sz="2400" dirty="0"/>
              <a:t>Hạn chế hiện tại: Quản lý thủ công rời rạc dẫn đến tra cứu chậm, dễ sai lệch tồn kho, nhầm lẫn lịch mượn/trả và khó khăn khi tính tiền phạt.</a:t>
            </a:r>
            <a:endParaRPr lang="en-US" sz="2400" dirty="0"/>
          </a:p>
          <a:p>
            <a:pPr>
              <a:buFont typeface="Arial" panose="020B0604020202020204" pitchFamily="34" charset="0"/>
              <a:buChar char="•"/>
            </a:pPr>
            <a:r>
              <a:rPr lang="en-US" sz="2400" dirty="0" err="1"/>
              <a:t>Giải</a:t>
            </a:r>
            <a:r>
              <a:rPr lang="en-US" sz="2400" dirty="0"/>
              <a:t> </a:t>
            </a:r>
            <a:r>
              <a:rPr lang="en-US" sz="2400" dirty="0" err="1"/>
              <a:t>pháp</a:t>
            </a:r>
            <a:r>
              <a:rPr lang="en-US" sz="2400" dirty="0"/>
              <a:t> </a:t>
            </a:r>
            <a:r>
              <a:rPr lang="en-US" sz="2400" dirty="0" err="1"/>
              <a:t>đề</a:t>
            </a:r>
            <a:r>
              <a:rPr lang="en-US" sz="2400" dirty="0"/>
              <a:t> </a:t>
            </a:r>
            <a:r>
              <a:rPr lang="en-US" sz="2400" dirty="0" err="1"/>
              <a:t>xuất</a:t>
            </a:r>
            <a:r>
              <a:rPr lang="en-US" sz="2400" dirty="0"/>
              <a:t>: </a:t>
            </a:r>
            <a:r>
              <a:rPr lang="en-US" sz="2400" dirty="0" err="1"/>
              <a:t>Xây</a:t>
            </a:r>
            <a:r>
              <a:rPr lang="en-US" sz="2400" dirty="0"/>
              <a:t> </a:t>
            </a:r>
            <a:r>
              <a:rPr lang="en-US" sz="2400" dirty="0" err="1"/>
              <a:t>dựng</a:t>
            </a:r>
            <a:r>
              <a:rPr lang="en-US" sz="2400" dirty="0"/>
              <a:t> </a:t>
            </a:r>
            <a:r>
              <a:rPr lang="en-US" sz="2400" dirty="0" err="1"/>
              <a:t>phần</a:t>
            </a:r>
            <a:r>
              <a:rPr lang="en-US" sz="2400" dirty="0"/>
              <a:t> </a:t>
            </a:r>
            <a:r>
              <a:rPr lang="en-US" sz="2400" dirty="0" err="1"/>
              <a:t>mềm</a:t>
            </a:r>
            <a:r>
              <a:rPr lang="en-US" sz="2400" dirty="0"/>
              <a:t> Desktop (Windows Forms + SQL Server) </a:t>
            </a:r>
            <a:r>
              <a:rPr lang="en-US" sz="2400" dirty="0" err="1"/>
              <a:t>để</a:t>
            </a:r>
            <a:r>
              <a:rPr lang="en-US" sz="2400" dirty="0"/>
              <a:t>:</a:t>
            </a:r>
          </a:p>
          <a:p>
            <a:pPr lvl="1">
              <a:buFont typeface="Arial" panose="020B0604020202020204" pitchFamily="34" charset="0"/>
              <a:buChar char="•"/>
            </a:pPr>
            <a:r>
              <a:rPr lang="en-US" sz="2200" dirty="0"/>
              <a:t>Quản </a:t>
            </a:r>
            <a:r>
              <a:rPr lang="en-US" sz="2200" dirty="0" err="1"/>
              <a:t>lý</a:t>
            </a:r>
            <a:r>
              <a:rPr lang="en-US" sz="2200" dirty="0"/>
              <a:t> </a:t>
            </a:r>
            <a:r>
              <a:rPr lang="en-US" sz="2200" dirty="0" err="1"/>
              <a:t>dữ</a:t>
            </a:r>
            <a:r>
              <a:rPr lang="en-US" sz="2200" dirty="0"/>
              <a:t> </a:t>
            </a:r>
            <a:r>
              <a:rPr lang="en-US" sz="2200" dirty="0" err="1"/>
              <a:t>liệu</a:t>
            </a:r>
            <a:r>
              <a:rPr lang="en-US" sz="2200" dirty="0"/>
              <a:t> </a:t>
            </a:r>
            <a:r>
              <a:rPr lang="en-US" sz="2200" dirty="0" err="1"/>
              <a:t>tập</a:t>
            </a:r>
            <a:r>
              <a:rPr lang="en-US" sz="2200" dirty="0"/>
              <a:t> </a:t>
            </a:r>
            <a:r>
              <a:rPr lang="en-US" sz="2200" dirty="0" err="1"/>
              <a:t>trung</a:t>
            </a:r>
            <a:r>
              <a:rPr lang="en-US" sz="2200" dirty="0"/>
              <a:t>, </a:t>
            </a:r>
            <a:r>
              <a:rPr lang="en-US" sz="2200" dirty="0" err="1"/>
              <a:t>tự</a:t>
            </a:r>
            <a:r>
              <a:rPr lang="en-US" sz="2200" dirty="0"/>
              <a:t> </a:t>
            </a:r>
            <a:r>
              <a:rPr lang="en-US" sz="2200" dirty="0" err="1"/>
              <a:t>động</a:t>
            </a:r>
            <a:r>
              <a:rPr lang="en-US" sz="2200" dirty="0"/>
              <a:t> </a:t>
            </a:r>
            <a:r>
              <a:rPr lang="en-US" sz="2200" dirty="0" err="1"/>
              <a:t>hóa</a:t>
            </a:r>
            <a:r>
              <a:rPr lang="en-US" sz="2200" dirty="0"/>
              <a:t> </a:t>
            </a:r>
            <a:r>
              <a:rPr lang="en-US" sz="2200" dirty="0" err="1"/>
              <a:t>quy</a:t>
            </a:r>
            <a:r>
              <a:rPr lang="en-US" sz="2200" dirty="0"/>
              <a:t> </a:t>
            </a:r>
            <a:r>
              <a:rPr lang="en-US" sz="2200" dirty="0" err="1"/>
              <a:t>trình</a:t>
            </a:r>
            <a:r>
              <a:rPr lang="en-US" sz="2200" dirty="0"/>
              <a:t>.</a:t>
            </a:r>
          </a:p>
          <a:p>
            <a:pPr lvl="1">
              <a:buFont typeface="Arial" panose="020B0604020202020204" pitchFamily="34" charset="0"/>
              <a:buChar char="•"/>
            </a:pPr>
            <a:r>
              <a:rPr lang="vi-VN" sz="2200" dirty="0"/>
              <a:t>Bảo mật và phân quyền chặt chẽ (Admin / Thủ thư).</a:t>
            </a:r>
            <a:endParaRPr lang="en-US" sz="2200" dirty="0"/>
          </a:p>
          <a:p>
            <a:pPr lvl="1">
              <a:buFont typeface="Arial" panose="020B0604020202020204" pitchFamily="34" charset="0"/>
              <a:buChar char="•"/>
            </a:pPr>
            <a:r>
              <a:rPr lang="vi-VN" sz="2200" dirty="0"/>
              <a:t>Giao diện đơn giản, hoạt động ổn định và chính xác.</a:t>
            </a:r>
            <a:endParaRPr lang="en-VN" sz="2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030E320-04C1-EF64-7047-BF9184F72474}"/>
              </a:ext>
            </a:extLst>
          </p:cNvPr>
          <p:cNvPicPr>
            <a:picLocks noChangeAspect="1"/>
          </p:cNvPicPr>
          <p:nvPr/>
        </p:nvPicPr>
        <p:blipFill>
          <a:blip r:embed="rId3"/>
          <a:stretch>
            <a:fillRect/>
          </a:stretch>
        </p:blipFill>
        <p:spPr>
          <a:xfrm>
            <a:off x="410070" y="886834"/>
            <a:ext cx="5858693" cy="49727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4</a:t>
            </a:fld>
            <a:endParaRPr sz="1400" b="0" i="0" u="none" strike="noStrike" cap="none">
              <a:solidFill>
                <a:schemeClr val="dk1"/>
              </a:solidFill>
              <a:latin typeface="Verdana"/>
              <a:ea typeface="Verdana"/>
              <a:cs typeface="Verdana"/>
              <a:sym typeface="Verdana"/>
            </a:endParaRPr>
          </a:p>
        </p:txBody>
      </p:sp>
      <p:sp>
        <p:nvSpPr>
          <p:cNvPr id="245" name="Google Shape;245;p4"/>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vi-VN" b="1" dirty="0">
                <a:latin typeface="Verdana"/>
                <a:ea typeface="Verdana"/>
                <a:cs typeface="Verdana"/>
                <a:sym typeface="Verdana"/>
              </a:rPr>
              <a:t>Mục Tiêu </a:t>
            </a:r>
            <a:r>
              <a:rPr lang="en-US" b="1" dirty="0" err="1">
                <a:latin typeface="Verdana"/>
                <a:ea typeface="Verdana"/>
                <a:cs typeface="Verdana"/>
                <a:sym typeface="Verdana"/>
              </a:rPr>
              <a:t>Cần</a:t>
            </a:r>
            <a:r>
              <a:rPr lang="en-US" b="1" dirty="0">
                <a:latin typeface="Verdana"/>
                <a:ea typeface="Verdana"/>
                <a:cs typeface="Verdana"/>
                <a:sym typeface="Verdana"/>
              </a:rPr>
              <a:t> Đạt </a:t>
            </a:r>
            <a:r>
              <a:rPr lang="en-US" b="1" dirty="0" err="1">
                <a:latin typeface="Verdana"/>
                <a:ea typeface="Verdana"/>
                <a:cs typeface="Verdana"/>
                <a:sym typeface="Verdana"/>
              </a:rPr>
              <a:t>Được</a:t>
            </a:r>
            <a:endParaRPr b="1" dirty="0">
              <a:latin typeface="Verdana"/>
              <a:ea typeface="Verdana"/>
              <a:cs typeface="Verdana"/>
              <a:sym typeface="Verdana"/>
            </a:endParaRPr>
          </a:p>
        </p:txBody>
      </p:sp>
      <p:sp>
        <p:nvSpPr>
          <p:cNvPr id="246" name="Google Shape;246;p4"/>
          <p:cNvSpPr txBox="1">
            <a:spLocks noGrp="1"/>
          </p:cNvSpPr>
          <p:nvPr>
            <p:ph type="body" idx="1"/>
          </p:nvPr>
        </p:nvSpPr>
        <p:spPr>
          <a:xfrm>
            <a:off x="320039" y="1017270"/>
            <a:ext cx="5982437" cy="2778646"/>
          </a:xfrm>
          <a:prstGeom prst="rect">
            <a:avLst/>
          </a:prstGeom>
          <a:noFill/>
          <a:ln>
            <a:noFill/>
          </a:ln>
        </p:spPr>
        <p:txBody>
          <a:bodyPr spcFirstLastPara="1" wrap="square" lIns="91425" tIns="45700" rIns="91425" bIns="45700" anchor="t" anchorCtr="0">
            <a:noAutofit/>
          </a:bodyPr>
          <a:lstStyle/>
          <a:p>
            <a:r>
              <a:rPr lang="en-US" sz="2000" b="1" dirty="0" err="1">
                <a:latin typeface="Times New Roman" panose="02020603050405020304" pitchFamily="18" charset="0"/>
                <a:cs typeface="Times New Roman" panose="02020603050405020304" pitchFamily="18" charset="0"/>
              </a:rPr>
              <a:t>Mục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tiêu</a:t>
            </a:r>
            <a:r>
              <a:rPr lang="en-US" sz="2000" b="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vi-VN" sz="2000" dirty="0"/>
              <a:t>Xây dựng phần mềm: Hoàn thiện chương trình quản lý thư viện chạy trên môi trường Desktop</a:t>
            </a:r>
            <a:r>
              <a:rPr lang="en-US" sz="2000" dirty="0"/>
              <a:t>.</a:t>
            </a:r>
          </a:p>
          <a:p>
            <a:pPr>
              <a:buFont typeface="Wingdings" panose="05000000000000000000" pitchFamily="2" charset="2"/>
              <a:buChar char="Ø"/>
            </a:pPr>
            <a:r>
              <a:rPr lang="vi-VN" sz="2000" dirty="0"/>
              <a:t>Tự động hóa nghiệp vụ: Số hóa và tối ưu hóa toàn bộ quy trình nghiệp vụ nội bộ.</a:t>
            </a:r>
            <a:endParaRPr lang="en-US" sz="2000" dirty="0"/>
          </a:p>
          <a:p>
            <a:pPr>
              <a:buFont typeface="Wingdings" panose="05000000000000000000" pitchFamily="2" charset="2"/>
              <a:buChar char="Ø"/>
            </a:pPr>
            <a:r>
              <a:rPr lang="vi-VN" sz="2000" dirty="0"/>
              <a:t>Nâng cao hiệu suất: Tăng cường hiệu quả quản lý học liệu và lưu thông sách tại UTEHY.</a:t>
            </a:r>
            <a:endParaRPr lang="en-US"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F71E39E-98CB-42BA-AE79-462F241C41E7}"/>
              </a:ext>
            </a:extLst>
          </p:cNvPr>
          <p:cNvSpPr txBox="1"/>
          <p:nvPr/>
        </p:nvSpPr>
        <p:spPr>
          <a:xfrm>
            <a:off x="320040" y="4058962"/>
            <a:ext cx="6730878" cy="2649251"/>
          </a:xfrm>
          <a:prstGeom prst="rect">
            <a:avLst/>
          </a:prstGeom>
          <a:noFill/>
        </p:spPr>
        <p:txBody>
          <a:bodyPr wrap="square">
            <a:spAutoFit/>
          </a:bodyPr>
          <a:lstStyle/>
          <a:p>
            <a:pPr marL="342900" lvl="0" indent="-342900" algn="l" rtl="0">
              <a:lnSpc>
                <a:spcPct val="115000"/>
              </a:lnSpc>
              <a:spcBef>
                <a:spcPts val="1200"/>
              </a:spcBef>
              <a:spcAft>
                <a:spcPts val="0"/>
              </a:spcAft>
              <a:buClr>
                <a:schemeClr val="dk1"/>
              </a:buClr>
              <a:buSzPts val="2000"/>
              <a:buChar char="•"/>
            </a:pPr>
            <a:r>
              <a:rPr lang="vi-VN" sz="2000" b="1" dirty="0">
                <a:latin typeface="+mj-lt"/>
                <a:cs typeface="Times New Roman" panose="02020603050405020304" pitchFamily="18" charset="0"/>
                <a:sym typeface="Times New Roman"/>
              </a:rPr>
              <a:t>Phạm vi:</a:t>
            </a:r>
            <a:endParaRPr lang="en-US" sz="2000" b="1" dirty="0">
              <a:latin typeface="+mj-lt"/>
              <a:cs typeface="Arial" panose="020B0604020202020204" pitchFamily="34" charset="0"/>
              <a:sym typeface="Times New Roman"/>
            </a:endParaRPr>
          </a:p>
          <a:p>
            <a:pPr marL="342900" lvl="0" indent="-342900">
              <a:lnSpc>
                <a:spcPct val="115000"/>
              </a:lnSpc>
              <a:spcBef>
                <a:spcPts val="1200"/>
              </a:spcBef>
              <a:buClr>
                <a:schemeClr val="dk1"/>
              </a:buClr>
              <a:buSzPts val="2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Công </a:t>
            </a:r>
            <a:r>
              <a:rPr lang="en-US" sz="2000" dirty="0" err="1">
                <a:latin typeface="Times New Roman" panose="02020603050405020304" pitchFamily="18" charset="0"/>
                <a:cs typeface="Times New Roman" panose="02020603050405020304" pitchFamily="18" charset="0"/>
              </a:rPr>
              <a:t>nghệ</a:t>
            </a:r>
            <a:r>
              <a:rPr lang="en-US" sz="2000" dirty="0">
                <a:latin typeface="Times New Roman" panose="02020603050405020304" pitchFamily="18" charset="0"/>
                <a:cs typeface="Times New Roman" panose="02020603050405020304" pitchFamily="18" charset="0"/>
              </a:rPr>
              <a:t> &amp; </a:t>
            </a:r>
            <a:r>
              <a:rPr lang="en-US" sz="2000" dirty="0" err="1">
                <a:latin typeface="Times New Roman" panose="02020603050405020304" pitchFamily="18" charset="0"/>
                <a:cs typeface="Times New Roman" panose="02020603050405020304" pitchFamily="18" charset="0"/>
              </a:rPr>
              <a:t>Nền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tảng</a:t>
            </a:r>
            <a:r>
              <a:rPr lang="en-US" sz="2000" dirty="0">
                <a:latin typeface="Times New Roman" panose="02020603050405020304" pitchFamily="18" charset="0"/>
                <a:cs typeface="Times New Roman" panose="02020603050405020304" pitchFamily="18" charset="0"/>
              </a:rPr>
              <a:t>: C# (Windows Forms)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hợp</a:t>
            </a:r>
            <a:r>
              <a:rPr lang="en-US" sz="2000" dirty="0">
                <a:latin typeface="Times New Roman" panose="02020603050405020304" pitchFamily="18" charset="0"/>
                <a:cs typeface="Times New Roman" panose="02020603050405020304" pitchFamily="18" charset="0"/>
              </a:rPr>
              <a:t> CSDL SQL Server.</a:t>
            </a:r>
          </a:p>
          <a:p>
            <a:pPr marL="342900" lvl="0" indent="-342900">
              <a:lnSpc>
                <a:spcPct val="115000"/>
              </a:lnSpc>
              <a:spcBef>
                <a:spcPts val="1200"/>
              </a:spcBef>
              <a:buClr>
                <a:schemeClr val="dk1"/>
              </a:buClr>
              <a:buSzPts val="2000"/>
              <a:buFont typeface="Wingdings" panose="05000000000000000000" pitchFamily="2" charset="2"/>
              <a:buChar char="Ø"/>
            </a:pPr>
            <a:r>
              <a:rPr lang="vi-VN" sz="2000" dirty="0">
                <a:latin typeface="Times New Roman" panose="02020603050405020304" pitchFamily="18" charset="0"/>
                <a:cs typeface="Times New Roman" panose="02020603050405020304" pitchFamily="18" charset="0"/>
              </a:rPr>
              <a:t>Không gian triển khai: Thư viện Trường ĐHSPKT Hưng Yên (UTEHY).</a:t>
            </a:r>
            <a:endParaRPr lang="en-US" sz="2000" dirty="0">
              <a:latin typeface="Times New Roman" panose="02020603050405020304" pitchFamily="18" charset="0"/>
              <a:cs typeface="Times New Roman" panose="02020603050405020304" pitchFamily="18" charset="0"/>
            </a:endParaRPr>
          </a:p>
          <a:p>
            <a:pPr marL="342900" lvl="0" indent="-342900">
              <a:lnSpc>
                <a:spcPct val="115000"/>
              </a:lnSpc>
              <a:spcBef>
                <a:spcPts val="1200"/>
              </a:spcBef>
              <a:buClr>
                <a:schemeClr val="dk1"/>
              </a:buClr>
              <a:buSzPts val="2000"/>
              <a:buFont typeface="Wingdings" panose="05000000000000000000" pitchFamily="2" charset="2"/>
              <a:buChar char="Ø"/>
            </a:pPr>
            <a:r>
              <a:rPr lang="vi-VN" sz="2000" dirty="0">
                <a:latin typeface="Times New Roman" panose="02020603050405020304" pitchFamily="18" charset="0"/>
                <a:cs typeface="Times New Roman" panose="02020603050405020304" pitchFamily="18" charset="0"/>
              </a:rPr>
              <a:t>Đối tượng sử dụng: Quản trị viên (Admin) và Thủ thư.</a:t>
            </a:r>
            <a:endParaRPr lang="vi-VN" sz="2000" dirty="0">
              <a:latin typeface="Times New Roman" panose="02020603050405020304" pitchFamily="18" charset="0"/>
              <a:cs typeface="Times New Roman" panose="02020603050405020304" pitchFamily="18" charset="0"/>
              <a:sym typeface="Times New Roman"/>
            </a:endParaRPr>
          </a:p>
        </p:txBody>
      </p:sp>
      <p:pic>
        <p:nvPicPr>
          <p:cNvPr id="4" name="Picture 3">
            <a:extLst>
              <a:ext uri="{FF2B5EF4-FFF2-40B4-BE49-F238E27FC236}">
                <a16:creationId xmlns:a16="http://schemas.microsoft.com/office/drawing/2014/main" id="{0D01876C-A6F2-84AE-82AB-5C4513C778E1}"/>
              </a:ext>
            </a:extLst>
          </p:cNvPr>
          <p:cNvPicPr>
            <a:picLocks noChangeAspect="1"/>
          </p:cNvPicPr>
          <p:nvPr/>
        </p:nvPicPr>
        <p:blipFill>
          <a:blip r:embed="rId3"/>
          <a:stretch>
            <a:fillRect/>
          </a:stretch>
        </p:blipFill>
        <p:spPr>
          <a:xfrm>
            <a:off x="6756334" y="1017270"/>
            <a:ext cx="4834315" cy="4103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5"/>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5</a:t>
            </a:fld>
            <a:endParaRPr sz="1400" b="0" i="0" u="none" strike="noStrike" cap="none">
              <a:solidFill>
                <a:schemeClr val="dk1"/>
              </a:solidFill>
              <a:latin typeface="Verdana"/>
              <a:ea typeface="Verdana"/>
              <a:cs typeface="Verdana"/>
              <a:sym typeface="Verdana"/>
            </a:endParaRPr>
          </a:p>
        </p:txBody>
      </p:sp>
      <p:sp>
        <p:nvSpPr>
          <p:cNvPr id="253" name="Google Shape;253;p5"/>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PHÂN TÍCH THIẾT KẾ HỆ THỐNG</a:t>
            </a:r>
            <a:endParaRPr b="1" dirty="0">
              <a:latin typeface="Verdana"/>
              <a:ea typeface="Verdana"/>
              <a:cs typeface="Verdana"/>
              <a:sym typeface="Verdana"/>
            </a:endParaRPr>
          </a:p>
        </p:txBody>
      </p:sp>
      <p:sp>
        <p:nvSpPr>
          <p:cNvPr id="254" name="Google Shape;254;p5"/>
          <p:cNvSpPr txBox="1">
            <a:spLocks noGrp="1"/>
          </p:cNvSpPr>
          <p:nvPr>
            <p:ph type="body" idx="1"/>
          </p:nvPr>
        </p:nvSpPr>
        <p:spPr>
          <a:xfrm>
            <a:off x="5960339" y="1153764"/>
            <a:ext cx="4593322" cy="5363372"/>
          </a:xfrm>
          <a:prstGeom prst="rect">
            <a:avLst/>
          </a:prstGeom>
          <a:noFill/>
          <a:ln>
            <a:noFill/>
          </a:ln>
        </p:spPr>
        <p:txBody>
          <a:bodyPr spcFirstLastPara="1" wrap="square" lIns="91425" tIns="45700" rIns="91425" bIns="45700" anchor="t" anchorCtr="0">
            <a:noAutofit/>
          </a:bodyPr>
          <a:lstStyle/>
          <a:p>
            <a:pPr marL="114300" indent="0">
              <a:buNone/>
            </a:pPr>
            <a:r>
              <a:rPr lang="en-US" sz="2400" b="1" dirty="0">
                <a:latin typeface="Times New Roman" panose="02020603050405020304" pitchFamily="18" charset="0"/>
                <a:cs typeface="Times New Roman" panose="02020603050405020304" pitchFamily="18" charset="0"/>
              </a:rPr>
              <a:t>BIỂU ĐỒ USE CASE</a:t>
            </a:r>
          </a:p>
          <a:p>
            <a:pPr marL="114300" indent="0">
              <a:buNone/>
            </a:pPr>
            <a:r>
              <a:rPr lang="en-US" sz="2000" b="1" dirty="0">
                <a:latin typeface="Times New Roman" panose="02020603050405020304" pitchFamily="18" charset="0"/>
                <a:cs typeface="Times New Roman" panose="02020603050405020304" pitchFamily="18" charset="0"/>
              </a:rPr>
              <a:t>CÁC ACTOR</a:t>
            </a: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viên</a:t>
            </a:r>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Nhân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viên</a:t>
            </a:r>
            <a:endParaRPr lang="en-US" sz="2000" dirty="0">
              <a:latin typeface="Times New Roman" panose="02020603050405020304" pitchFamily="18" charset="0"/>
              <a:cs typeface="Times New Roman" panose="02020603050405020304" pitchFamily="18" charset="0"/>
            </a:endParaRPr>
          </a:p>
          <a:p>
            <a:pPr marL="114300" indent="0">
              <a:buNone/>
            </a:pPr>
            <a:r>
              <a:rPr lang="en-US" sz="2000" b="1" dirty="0">
                <a:latin typeface="Times New Roman" panose="02020603050405020304" pitchFamily="18" charset="0"/>
                <a:cs typeface="Times New Roman" panose="02020603050405020304" pitchFamily="18" charset="0"/>
              </a:rPr>
              <a:t>CÁC USE CASE CHÍNH</a:t>
            </a: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viên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mục</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nhập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Quản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mượn</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trả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sách</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Báo </a:t>
            </a:r>
            <a:r>
              <a:rPr lang="en-US" sz="2000" dirty="0" err="1">
                <a:latin typeface="Times New Roman" panose="02020603050405020304" pitchFamily="18" charset="0"/>
                <a:cs typeface="Times New Roman" panose="02020603050405020304" pitchFamily="18" charset="0"/>
              </a:rPr>
              <a:t>cáo</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Thống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kê</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0EA0831-E623-5C83-04D4-57355EA873D1}"/>
              </a:ext>
            </a:extLst>
          </p:cNvPr>
          <p:cNvPicPr>
            <a:picLocks noChangeAspect="1"/>
          </p:cNvPicPr>
          <p:nvPr/>
        </p:nvPicPr>
        <p:blipFill>
          <a:blip r:embed="rId3"/>
          <a:stretch>
            <a:fillRect/>
          </a:stretch>
        </p:blipFill>
        <p:spPr>
          <a:xfrm>
            <a:off x="906236" y="1153764"/>
            <a:ext cx="3828397" cy="52602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577AE810-3875-1867-41A6-3EC897A15911}"/>
            </a:ext>
          </a:extLst>
        </p:cNvPr>
        <p:cNvGrpSpPr/>
        <p:nvPr/>
      </p:nvGrpSpPr>
      <p:grpSpPr>
        <a:xfrm>
          <a:off x="0" y="0"/>
          <a:ext cx="0" cy="0"/>
          <a:chOff x="0" y="0"/>
          <a:chExt cx="0" cy="0"/>
        </a:xfrm>
      </p:grpSpPr>
      <p:sp>
        <p:nvSpPr>
          <p:cNvPr id="252" name="Google Shape;252;p5">
            <a:extLst>
              <a:ext uri="{FF2B5EF4-FFF2-40B4-BE49-F238E27FC236}">
                <a16:creationId xmlns:a16="http://schemas.microsoft.com/office/drawing/2014/main" id="{70EAD1BE-68CB-36F9-9392-EB41E00960D8}"/>
              </a:ext>
            </a:extLst>
          </p:cNvPr>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6</a:t>
            </a:fld>
            <a:endParaRPr sz="1400" b="0" i="0" u="none" strike="noStrike" cap="none">
              <a:solidFill>
                <a:schemeClr val="dk1"/>
              </a:solidFill>
              <a:latin typeface="Verdana"/>
              <a:ea typeface="Verdana"/>
              <a:cs typeface="Verdana"/>
              <a:sym typeface="Verdana"/>
            </a:endParaRPr>
          </a:p>
        </p:txBody>
      </p:sp>
      <p:sp>
        <p:nvSpPr>
          <p:cNvPr id="253" name="Google Shape;253;p5">
            <a:extLst>
              <a:ext uri="{FF2B5EF4-FFF2-40B4-BE49-F238E27FC236}">
                <a16:creationId xmlns:a16="http://schemas.microsoft.com/office/drawing/2014/main" id="{5E6B9DBF-9377-4535-1884-878CBCCAFADB}"/>
              </a:ext>
            </a:extLst>
          </p:cNvPr>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THIẾT KẾ CƠ SỞ DỮ LIỆU</a:t>
            </a:r>
            <a:endParaRPr b="1" dirty="0">
              <a:latin typeface="Verdana"/>
              <a:ea typeface="Verdana"/>
              <a:cs typeface="Verdana"/>
              <a:sym typeface="Verdana"/>
            </a:endParaRPr>
          </a:p>
        </p:txBody>
      </p:sp>
      <p:sp>
        <p:nvSpPr>
          <p:cNvPr id="254" name="Google Shape;254;p5">
            <a:extLst>
              <a:ext uri="{FF2B5EF4-FFF2-40B4-BE49-F238E27FC236}">
                <a16:creationId xmlns:a16="http://schemas.microsoft.com/office/drawing/2014/main" id="{25B630EF-D8C1-A848-7631-ED0E3AF62871}"/>
              </a:ext>
            </a:extLst>
          </p:cNvPr>
          <p:cNvSpPr txBox="1">
            <a:spLocks noGrp="1"/>
          </p:cNvSpPr>
          <p:nvPr>
            <p:ph type="body" idx="1"/>
          </p:nvPr>
        </p:nvSpPr>
        <p:spPr>
          <a:xfrm>
            <a:off x="6187330" y="668593"/>
            <a:ext cx="5894439" cy="5745429"/>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Mối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hệ</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giữa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bảng</a:t>
            </a:r>
            <a:r>
              <a:rPr lang="en-US" sz="2400" b="1"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vi-VN" sz="1600" dirty="0">
                <a:latin typeface="Times New Roman" panose="02020603050405020304" pitchFamily="18" charset="0"/>
                <a:cs typeface="Times New Roman" panose="02020603050405020304" pitchFamily="18" charset="0"/>
              </a:rPr>
              <a:t>Một tài khoản có thể được cấp cho nhiều nhân viên → Quan hệ 1 - N giữa tai_khoan và nhan_vien.</a:t>
            </a: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err="1"/>
              <a:t>Một</a:t>
            </a:r>
            <a:r>
              <a:rPr lang="en-US" sz="1600" dirty="0"/>
              <a:t> </a:t>
            </a:r>
            <a:r>
              <a:rPr lang="en-US" sz="1600" dirty="0" err="1"/>
              <a:t>danh</a:t>
            </a:r>
            <a:r>
              <a:rPr lang="en-US" sz="1600" dirty="0"/>
              <a:t> </a:t>
            </a:r>
            <a:r>
              <a:rPr lang="en-US" sz="1600" dirty="0" err="1"/>
              <a:t>mục</a:t>
            </a:r>
            <a:r>
              <a:rPr lang="en-US" sz="1600" dirty="0"/>
              <a:t> </a:t>
            </a:r>
            <a:r>
              <a:rPr lang="en-US" sz="1600" dirty="0" err="1"/>
              <a:t>có</a:t>
            </a:r>
            <a:r>
              <a:rPr lang="en-US" sz="1600" dirty="0"/>
              <a:t> </a:t>
            </a:r>
            <a:r>
              <a:rPr lang="en-US" sz="1600" dirty="0" err="1"/>
              <a:t>thể</a:t>
            </a:r>
            <a:r>
              <a:rPr lang="en-US" sz="1600" dirty="0"/>
              <a:t> </a:t>
            </a:r>
            <a:r>
              <a:rPr lang="en-US" sz="1600" dirty="0" err="1"/>
              <a:t>chứa</a:t>
            </a:r>
            <a:r>
              <a:rPr lang="en-US" sz="1600" dirty="0"/>
              <a:t> </a:t>
            </a:r>
            <a:r>
              <a:rPr lang="en-US" sz="1600" dirty="0" err="1"/>
              <a:t>nhiều</a:t>
            </a:r>
            <a:r>
              <a:rPr lang="en-US" sz="1600" dirty="0"/>
              <a:t> </a:t>
            </a:r>
            <a:r>
              <a:rPr lang="en-US" sz="1600" dirty="0" err="1"/>
              <a:t>sách</a:t>
            </a:r>
            <a:r>
              <a:rPr lang="en-US" sz="1600" dirty="0"/>
              <a:t> → Quan </a:t>
            </a:r>
            <a:r>
              <a:rPr lang="en-US" sz="1600" dirty="0" err="1"/>
              <a:t>hệ</a:t>
            </a:r>
            <a:r>
              <a:rPr lang="en-US" sz="1600" dirty="0"/>
              <a:t> 1 - N </a:t>
            </a:r>
            <a:r>
              <a:rPr lang="en-US" sz="1600" dirty="0" err="1"/>
              <a:t>giữa</a:t>
            </a:r>
            <a:r>
              <a:rPr lang="en-US" sz="1600" dirty="0"/>
              <a:t> </a:t>
            </a:r>
            <a:r>
              <a:rPr lang="en-US" sz="1600" dirty="0" err="1"/>
              <a:t>danh_muc</a:t>
            </a:r>
            <a:r>
              <a:rPr lang="en-US" sz="1600" dirty="0"/>
              <a:t> </a:t>
            </a:r>
            <a:r>
              <a:rPr lang="en-US" sz="1600" dirty="0" err="1"/>
              <a:t>và</a:t>
            </a:r>
            <a:r>
              <a:rPr lang="en-US" sz="1600" dirty="0"/>
              <a:t> </a:t>
            </a:r>
            <a:r>
              <a:rPr lang="en-US" sz="1600" dirty="0" err="1"/>
              <a:t>sach</a:t>
            </a:r>
            <a:r>
              <a:rPr lang="en-US" sz="1600" dirty="0"/>
              <a:t>.</a:t>
            </a:r>
          </a:p>
          <a:p>
            <a:pPr>
              <a:buFont typeface="Arial" panose="020B0604020202020204" pitchFamily="34" charset="0"/>
              <a:buChar char="•"/>
            </a:pPr>
            <a:r>
              <a:rPr lang="vi-VN" sz="1600" dirty="0"/>
              <a:t>Một nhân viên có thể lập nhiều phiếu mượn trả → Quan hệ 1 - N giữa nhan_vien và phieu_muon_tra.</a:t>
            </a:r>
            <a:endParaRPr lang="en-US" sz="1600" dirty="0"/>
          </a:p>
          <a:p>
            <a:pPr>
              <a:buFont typeface="Arial" panose="020B0604020202020204" pitchFamily="34" charset="0"/>
              <a:buChar char="•"/>
            </a:pPr>
            <a:r>
              <a:rPr lang="en-US" sz="1600" dirty="0" err="1"/>
              <a:t>Một</a:t>
            </a:r>
            <a:r>
              <a:rPr lang="en-US" sz="1600" dirty="0"/>
              <a:t> </a:t>
            </a:r>
            <a:r>
              <a:rPr lang="en-US" sz="1600" dirty="0" err="1"/>
              <a:t>nhân</a:t>
            </a:r>
            <a:r>
              <a:rPr lang="en-US" sz="1600" dirty="0"/>
              <a:t> </a:t>
            </a:r>
            <a:r>
              <a:rPr lang="en-US" sz="1600" dirty="0" err="1"/>
              <a:t>viên</a:t>
            </a:r>
            <a:r>
              <a:rPr lang="en-US" sz="1600" dirty="0"/>
              <a:t> </a:t>
            </a:r>
            <a:r>
              <a:rPr lang="en-US" sz="1600" dirty="0" err="1"/>
              <a:t>có</a:t>
            </a:r>
            <a:r>
              <a:rPr lang="en-US" sz="1600" dirty="0"/>
              <a:t> </a:t>
            </a:r>
            <a:r>
              <a:rPr lang="en-US" sz="1600" dirty="0" err="1"/>
              <a:t>thể</a:t>
            </a:r>
            <a:r>
              <a:rPr lang="en-US" sz="1600" dirty="0"/>
              <a:t> </a:t>
            </a:r>
            <a:r>
              <a:rPr lang="en-US" sz="1600" dirty="0" err="1"/>
              <a:t>lập</a:t>
            </a:r>
            <a:r>
              <a:rPr lang="en-US" sz="1600" dirty="0"/>
              <a:t> </a:t>
            </a:r>
            <a:r>
              <a:rPr lang="en-US" sz="1600" dirty="0" err="1"/>
              <a:t>nhiều</a:t>
            </a:r>
            <a:r>
              <a:rPr lang="en-US" sz="1600" dirty="0"/>
              <a:t> </a:t>
            </a:r>
            <a:r>
              <a:rPr lang="en-US" sz="1600" dirty="0" err="1"/>
              <a:t>phiếu</a:t>
            </a:r>
            <a:r>
              <a:rPr lang="en-US" sz="1600" dirty="0"/>
              <a:t> </a:t>
            </a:r>
            <a:r>
              <a:rPr lang="en-US" sz="1600" dirty="0" err="1"/>
              <a:t>nhập</a:t>
            </a:r>
            <a:r>
              <a:rPr lang="en-US" sz="1600" dirty="0"/>
              <a:t> </a:t>
            </a:r>
            <a:r>
              <a:rPr lang="en-US" sz="1600" dirty="0" err="1"/>
              <a:t>sách</a:t>
            </a:r>
            <a:r>
              <a:rPr lang="en-US" sz="1600" dirty="0"/>
              <a:t> → Quan </a:t>
            </a:r>
            <a:r>
              <a:rPr lang="en-US" sz="1600" dirty="0" err="1"/>
              <a:t>hệ</a:t>
            </a:r>
            <a:r>
              <a:rPr lang="en-US" sz="1600" dirty="0"/>
              <a:t> 1 - N </a:t>
            </a:r>
            <a:r>
              <a:rPr lang="en-US" sz="1600" dirty="0" err="1"/>
              <a:t>giữa</a:t>
            </a:r>
            <a:r>
              <a:rPr lang="en-US" sz="1600" dirty="0"/>
              <a:t> </a:t>
            </a:r>
            <a:r>
              <a:rPr lang="en-US" sz="1600" dirty="0" err="1"/>
              <a:t>nhan_vien</a:t>
            </a:r>
            <a:r>
              <a:rPr lang="en-US" sz="1600" dirty="0"/>
              <a:t> </a:t>
            </a:r>
            <a:r>
              <a:rPr lang="en-US" sz="1600" dirty="0" err="1"/>
              <a:t>và</a:t>
            </a:r>
            <a:r>
              <a:rPr lang="en-US" sz="1600" dirty="0"/>
              <a:t> </a:t>
            </a:r>
            <a:r>
              <a:rPr lang="en-US" sz="1600" dirty="0" err="1"/>
              <a:t>phieu_nhap_sach</a:t>
            </a:r>
            <a:r>
              <a:rPr lang="en-US" sz="1600" dirty="0"/>
              <a:t>.</a:t>
            </a:r>
          </a:p>
          <a:p>
            <a:pPr>
              <a:buFont typeface="Arial" panose="020B0604020202020204" pitchFamily="34" charset="0"/>
              <a:buChar char="•"/>
            </a:pPr>
            <a:r>
              <a:rPr lang="vi-VN" sz="1600" dirty="0"/>
              <a:t>Một độc giả có thể có nhiều phiếu mượn trả → Quan hệ 1 - N giữa doc_gia và phieu_muon_tra.</a:t>
            </a:r>
            <a:endParaRPr lang="en-US" sz="1600" dirty="0"/>
          </a:p>
          <a:p>
            <a:pPr>
              <a:buFont typeface="Arial" panose="020B0604020202020204" pitchFamily="34" charset="0"/>
              <a:buChar char="•"/>
            </a:pPr>
            <a:r>
              <a:rPr lang="en-US" sz="1600" dirty="0" err="1"/>
              <a:t>Một</a:t>
            </a:r>
            <a:r>
              <a:rPr lang="en-US" sz="1600" dirty="0"/>
              <a:t> </a:t>
            </a:r>
            <a:r>
              <a:rPr lang="en-US" sz="1600" dirty="0" err="1"/>
              <a:t>nhà</a:t>
            </a:r>
            <a:r>
              <a:rPr lang="en-US" sz="1600" dirty="0"/>
              <a:t> </a:t>
            </a:r>
            <a:r>
              <a:rPr lang="en-US" sz="1600" dirty="0" err="1"/>
              <a:t>cung</a:t>
            </a:r>
            <a:r>
              <a:rPr lang="en-US" sz="1600" dirty="0"/>
              <a:t> </a:t>
            </a:r>
            <a:r>
              <a:rPr lang="en-US" sz="1600" dirty="0" err="1"/>
              <a:t>cấp</a:t>
            </a:r>
            <a:r>
              <a:rPr lang="en-US" sz="1600" dirty="0"/>
              <a:t> </a:t>
            </a:r>
            <a:r>
              <a:rPr lang="en-US" sz="1600" dirty="0" err="1"/>
              <a:t>có</a:t>
            </a:r>
            <a:r>
              <a:rPr lang="en-US" sz="1600" dirty="0"/>
              <a:t> </a:t>
            </a:r>
            <a:r>
              <a:rPr lang="en-US" sz="1600" dirty="0" err="1"/>
              <a:t>thể</a:t>
            </a:r>
            <a:r>
              <a:rPr lang="en-US" sz="1600" dirty="0"/>
              <a:t> </a:t>
            </a:r>
            <a:r>
              <a:rPr lang="en-US" sz="1600" dirty="0" err="1"/>
              <a:t>cung</a:t>
            </a:r>
            <a:r>
              <a:rPr lang="en-US" sz="1600" dirty="0"/>
              <a:t> </a:t>
            </a:r>
            <a:r>
              <a:rPr lang="en-US" sz="1600" dirty="0" err="1"/>
              <a:t>cấp</a:t>
            </a:r>
            <a:r>
              <a:rPr lang="en-US" sz="1600" dirty="0"/>
              <a:t> </a:t>
            </a:r>
            <a:r>
              <a:rPr lang="en-US" sz="1600" dirty="0" err="1"/>
              <a:t>nhiều</a:t>
            </a:r>
            <a:r>
              <a:rPr lang="en-US" sz="1600" dirty="0"/>
              <a:t> </a:t>
            </a:r>
            <a:r>
              <a:rPr lang="en-US" sz="1600" dirty="0" err="1"/>
              <a:t>đợt</a:t>
            </a:r>
            <a:r>
              <a:rPr lang="en-US" sz="1600" dirty="0"/>
              <a:t> </a:t>
            </a:r>
            <a:r>
              <a:rPr lang="en-US" sz="1600" dirty="0" err="1"/>
              <a:t>nhập</a:t>
            </a:r>
            <a:r>
              <a:rPr lang="en-US" sz="1600" dirty="0"/>
              <a:t> </a:t>
            </a:r>
            <a:r>
              <a:rPr lang="en-US" sz="1600" dirty="0" err="1"/>
              <a:t>sách</a:t>
            </a:r>
            <a:r>
              <a:rPr lang="en-US" sz="1600" dirty="0"/>
              <a:t> → Quan </a:t>
            </a:r>
            <a:r>
              <a:rPr lang="en-US" sz="1600" dirty="0" err="1"/>
              <a:t>hệ</a:t>
            </a:r>
            <a:r>
              <a:rPr lang="en-US" sz="1600" dirty="0"/>
              <a:t> 1 - N </a:t>
            </a:r>
            <a:r>
              <a:rPr lang="en-US" sz="1600" dirty="0" err="1"/>
              <a:t>giữa</a:t>
            </a:r>
            <a:r>
              <a:rPr lang="en-US" sz="1600" dirty="0"/>
              <a:t> </a:t>
            </a:r>
            <a:r>
              <a:rPr lang="en-US" sz="1600" dirty="0" err="1"/>
              <a:t>nha_cung_cap</a:t>
            </a:r>
            <a:r>
              <a:rPr lang="en-US" sz="1600" dirty="0"/>
              <a:t> </a:t>
            </a:r>
            <a:r>
              <a:rPr lang="en-US" sz="1600" dirty="0" err="1"/>
              <a:t>và</a:t>
            </a:r>
            <a:r>
              <a:rPr lang="en-US" sz="1600" dirty="0"/>
              <a:t> </a:t>
            </a:r>
            <a:r>
              <a:rPr lang="en-US" sz="1600" dirty="0" err="1"/>
              <a:t>phieu_nhap_sach</a:t>
            </a:r>
            <a:r>
              <a:rPr lang="en-US" sz="1600" dirty="0"/>
              <a:t>.</a:t>
            </a:r>
          </a:p>
          <a:p>
            <a:pPr>
              <a:buFont typeface="Arial" panose="020B0604020202020204" pitchFamily="34" charset="0"/>
              <a:buChar char="•"/>
            </a:pPr>
            <a:r>
              <a:rPr lang="vi-VN" sz="1600" dirty="0"/>
              <a:t>Một phiếu mượn trả có thể chứa nhiều sách và một sách có thể xuất hiện trong nhiều phiếu mượn trả → Quan hệ N - N giữa phieu_muon_tra và sach thông qua chi_tiet_muon_tra.</a:t>
            </a:r>
            <a:endParaRPr lang="en-US" sz="1600" dirty="0"/>
          </a:p>
          <a:p>
            <a:pPr>
              <a:buFont typeface="Arial" panose="020B0604020202020204" pitchFamily="34" charset="0"/>
              <a:buChar char="•"/>
            </a:pPr>
            <a:r>
              <a:rPr lang="en-US" sz="1600" dirty="0" err="1"/>
              <a:t>Một</a:t>
            </a:r>
            <a:r>
              <a:rPr lang="en-US" sz="1600" dirty="0"/>
              <a:t> </a:t>
            </a:r>
            <a:r>
              <a:rPr lang="en-US" sz="1600" dirty="0" err="1"/>
              <a:t>phiếu</a:t>
            </a:r>
            <a:r>
              <a:rPr lang="en-US" sz="1600" dirty="0"/>
              <a:t> </a:t>
            </a:r>
            <a:r>
              <a:rPr lang="en-US" sz="1600" dirty="0" err="1"/>
              <a:t>nhập</a:t>
            </a:r>
            <a:r>
              <a:rPr lang="en-US" sz="1600" dirty="0"/>
              <a:t> </a:t>
            </a:r>
            <a:r>
              <a:rPr lang="en-US" sz="1600" dirty="0" err="1"/>
              <a:t>sách</a:t>
            </a:r>
            <a:r>
              <a:rPr lang="en-US" sz="1600" dirty="0"/>
              <a:t> </a:t>
            </a:r>
            <a:r>
              <a:rPr lang="en-US" sz="1600" dirty="0" err="1"/>
              <a:t>có</a:t>
            </a:r>
            <a:r>
              <a:rPr lang="en-US" sz="1600" dirty="0"/>
              <a:t> </a:t>
            </a:r>
            <a:r>
              <a:rPr lang="en-US" sz="1600" dirty="0" err="1"/>
              <a:t>thể</a:t>
            </a:r>
            <a:r>
              <a:rPr lang="en-US" sz="1600" dirty="0"/>
              <a:t> </a:t>
            </a:r>
            <a:r>
              <a:rPr lang="en-US" sz="1600" dirty="0" err="1"/>
              <a:t>nhập</a:t>
            </a:r>
            <a:r>
              <a:rPr lang="en-US" sz="1600" dirty="0"/>
              <a:t> </a:t>
            </a:r>
            <a:r>
              <a:rPr lang="en-US" sz="1600" dirty="0" err="1"/>
              <a:t>nhiều</a:t>
            </a:r>
            <a:r>
              <a:rPr lang="en-US" sz="1600" dirty="0"/>
              <a:t> </a:t>
            </a:r>
            <a:r>
              <a:rPr lang="en-US" sz="1600" dirty="0" err="1"/>
              <a:t>sách</a:t>
            </a:r>
            <a:r>
              <a:rPr lang="en-US" sz="1600" dirty="0"/>
              <a:t> </a:t>
            </a:r>
            <a:r>
              <a:rPr lang="en-US" sz="1600" dirty="0" err="1"/>
              <a:t>và</a:t>
            </a:r>
            <a:r>
              <a:rPr lang="en-US" sz="1600" dirty="0"/>
              <a:t> </a:t>
            </a:r>
            <a:r>
              <a:rPr lang="en-US" sz="1600" dirty="0" err="1"/>
              <a:t>một</a:t>
            </a:r>
            <a:r>
              <a:rPr lang="en-US" sz="1600" dirty="0"/>
              <a:t> </a:t>
            </a:r>
            <a:r>
              <a:rPr lang="en-US" sz="1600" dirty="0" err="1"/>
              <a:t>sách</a:t>
            </a:r>
            <a:r>
              <a:rPr lang="en-US" sz="1600" dirty="0"/>
              <a:t> </a:t>
            </a:r>
            <a:r>
              <a:rPr lang="en-US" sz="1600" dirty="0" err="1"/>
              <a:t>có</a:t>
            </a:r>
            <a:r>
              <a:rPr lang="en-US" sz="1600" dirty="0"/>
              <a:t> </a:t>
            </a:r>
            <a:r>
              <a:rPr lang="en-US" sz="1600" dirty="0" err="1"/>
              <a:t>thể</a:t>
            </a:r>
            <a:r>
              <a:rPr lang="en-US" sz="1600" dirty="0"/>
              <a:t> </a:t>
            </a:r>
            <a:r>
              <a:rPr lang="en-US" sz="1600" dirty="0" err="1"/>
              <a:t>nằm</a:t>
            </a:r>
            <a:r>
              <a:rPr lang="en-US" sz="1600" dirty="0"/>
              <a:t> </a:t>
            </a:r>
            <a:r>
              <a:rPr lang="en-US" sz="1600" dirty="0" err="1"/>
              <a:t>trong</a:t>
            </a:r>
            <a:r>
              <a:rPr lang="en-US" sz="1600" dirty="0"/>
              <a:t> </a:t>
            </a:r>
            <a:r>
              <a:rPr lang="en-US" sz="1600" dirty="0" err="1"/>
              <a:t>nhiều</a:t>
            </a:r>
            <a:r>
              <a:rPr lang="en-US" sz="1600" dirty="0"/>
              <a:t> </a:t>
            </a:r>
            <a:r>
              <a:rPr lang="en-US" sz="1600" dirty="0" err="1"/>
              <a:t>phiếu</a:t>
            </a:r>
            <a:r>
              <a:rPr lang="en-US" sz="1600" dirty="0"/>
              <a:t> </a:t>
            </a:r>
            <a:r>
              <a:rPr lang="en-US" sz="1600" dirty="0" err="1"/>
              <a:t>nhập</a:t>
            </a:r>
            <a:r>
              <a:rPr lang="en-US" sz="1600" dirty="0"/>
              <a:t> </a:t>
            </a:r>
            <a:r>
              <a:rPr lang="en-US" sz="1600" dirty="0" err="1"/>
              <a:t>sách</a:t>
            </a:r>
            <a:r>
              <a:rPr lang="en-US" sz="1600" dirty="0"/>
              <a:t> → Quan </a:t>
            </a:r>
            <a:r>
              <a:rPr lang="en-US" sz="1600" dirty="0" err="1"/>
              <a:t>hệ</a:t>
            </a:r>
            <a:r>
              <a:rPr lang="en-US" sz="1600" dirty="0"/>
              <a:t> N - N </a:t>
            </a:r>
            <a:r>
              <a:rPr lang="en-US" sz="1600" dirty="0" err="1"/>
              <a:t>giữa</a:t>
            </a:r>
            <a:r>
              <a:rPr lang="en-US" sz="1600" dirty="0"/>
              <a:t> </a:t>
            </a:r>
            <a:r>
              <a:rPr lang="en-US" sz="1600" dirty="0" err="1"/>
              <a:t>phieu_nhap_sach</a:t>
            </a:r>
            <a:r>
              <a:rPr lang="en-US" sz="1600" dirty="0"/>
              <a:t> </a:t>
            </a:r>
            <a:r>
              <a:rPr lang="en-US" sz="1600" dirty="0" err="1"/>
              <a:t>và</a:t>
            </a:r>
            <a:r>
              <a:rPr lang="en-US" sz="1600" dirty="0"/>
              <a:t> </a:t>
            </a:r>
            <a:r>
              <a:rPr lang="en-US" sz="1600" dirty="0" err="1"/>
              <a:t>sach</a:t>
            </a:r>
            <a:r>
              <a:rPr lang="en-US" sz="1600" dirty="0"/>
              <a:t> </a:t>
            </a:r>
            <a:r>
              <a:rPr lang="en-US" sz="1600" dirty="0" err="1"/>
              <a:t>thông</a:t>
            </a:r>
            <a:r>
              <a:rPr lang="en-US" sz="1600" dirty="0"/>
              <a:t> qua </a:t>
            </a:r>
            <a:r>
              <a:rPr lang="en-US" sz="1600" dirty="0" err="1"/>
              <a:t>chi_tiet_phieu_nhap</a:t>
            </a:r>
            <a:r>
              <a:rPr lang="en-US" sz="1600" dirty="0"/>
              <a:t>.</a:t>
            </a:r>
          </a:p>
        </p:txBody>
      </p:sp>
      <p:pic>
        <p:nvPicPr>
          <p:cNvPr id="1026" name="Picture 1">
            <a:extLst>
              <a:ext uri="{FF2B5EF4-FFF2-40B4-BE49-F238E27FC236}">
                <a16:creationId xmlns:a16="http://schemas.microsoft.com/office/drawing/2014/main" id="{DBA72B01-8BE7-9F4E-4516-FC2AAACA02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0673"/>
            <a:ext cx="6682516" cy="4527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3203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5DF48E53-132A-F980-A961-72A2362A502A}"/>
            </a:ext>
          </a:extLst>
        </p:cNvPr>
        <p:cNvGrpSpPr/>
        <p:nvPr/>
      </p:nvGrpSpPr>
      <p:grpSpPr>
        <a:xfrm>
          <a:off x="0" y="0"/>
          <a:ext cx="0" cy="0"/>
          <a:chOff x="0" y="0"/>
          <a:chExt cx="0" cy="0"/>
        </a:xfrm>
      </p:grpSpPr>
      <p:sp>
        <p:nvSpPr>
          <p:cNvPr id="252" name="Google Shape;252;p5">
            <a:extLst>
              <a:ext uri="{FF2B5EF4-FFF2-40B4-BE49-F238E27FC236}">
                <a16:creationId xmlns:a16="http://schemas.microsoft.com/office/drawing/2014/main" id="{2B8DA413-C9AA-CC50-7BD8-3DC2873AA647}"/>
              </a:ext>
            </a:extLst>
          </p:cNvPr>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7</a:t>
            </a:fld>
            <a:endParaRPr sz="1400" b="0" i="0" u="none" strike="noStrike" cap="none">
              <a:solidFill>
                <a:schemeClr val="dk1"/>
              </a:solidFill>
              <a:latin typeface="Verdana"/>
              <a:ea typeface="Verdana"/>
              <a:cs typeface="Verdana"/>
              <a:sym typeface="Verdana"/>
            </a:endParaRPr>
          </a:p>
        </p:txBody>
      </p:sp>
      <p:sp>
        <p:nvSpPr>
          <p:cNvPr id="253" name="Google Shape;253;p5">
            <a:extLst>
              <a:ext uri="{FF2B5EF4-FFF2-40B4-BE49-F238E27FC236}">
                <a16:creationId xmlns:a16="http://schemas.microsoft.com/office/drawing/2014/main" id="{16F7C5E0-60D6-6AE0-BD81-6ED06AA5501A}"/>
              </a:ext>
            </a:extLst>
          </p:cNvPr>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MỘT SỐ GIAO DIỆN CHÍNH</a:t>
            </a:r>
            <a:endParaRPr b="1" dirty="0">
              <a:latin typeface="Verdana"/>
              <a:ea typeface="Verdana"/>
              <a:cs typeface="Verdana"/>
              <a:sym typeface="Verdana"/>
            </a:endParaRPr>
          </a:p>
        </p:txBody>
      </p:sp>
      <p:pic>
        <p:nvPicPr>
          <p:cNvPr id="2050" name="Picture 1">
            <a:extLst>
              <a:ext uri="{FF2B5EF4-FFF2-40B4-BE49-F238E27FC236}">
                <a16:creationId xmlns:a16="http://schemas.microsoft.com/office/drawing/2014/main" id="{F4408F32-F901-A45C-68A5-81D098463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91" y="868415"/>
            <a:ext cx="9338569" cy="494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365E00A-AE0F-C7CE-826E-B9C02EC2C1B3}"/>
              </a:ext>
            </a:extLst>
          </p:cNvPr>
          <p:cNvSpPr txBox="1"/>
          <p:nvPr/>
        </p:nvSpPr>
        <p:spPr>
          <a:xfrm>
            <a:off x="9555811" y="868415"/>
            <a:ext cx="2525957" cy="276998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Giao </a:t>
            </a:r>
            <a:r>
              <a:rPr lang="en-US" sz="2400" b="1" dirty="0" err="1">
                <a:latin typeface="Times New Roman" panose="02020603050405020304" pitchFamily="18" charset="0"/>
                <a:cs typeface="Times New Roman" panose="02020603050405020304" pitchFamily="18" charset="0"/>
              </a:rPr>
              <a:t>diện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trang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chủ</a:t>
            </a:r>
            <a:endParaRPr lang="en-US"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vi-VN" sz="1800" dirty="0">
                <a:latin typeface="+mj-lt"/>
              </a:rPr>
              <a:t>Thanh điều hướng (Sidebar - Bên trái): Hiển thị danh sách các phân hệ quản lý của hệ thống thư viện "UTEHY LIBRARY".</a:t>
            </a:r>
            <a:endParaRPr lang="en-US" sz="1800" dirty="0">
              <a:latin typeface="+mj-lt"/>
              <a:cs typeface="Times New Roman" panose="02020603050405020304" pitchFamily="18" charset="0"/>
            </a:endParaRPr>
          </a:p>
        </p:txBody>
      </p:sp>
    </p:spTree>
    <p:extLst>
      <p:ext uri="{BB962C8B-B14F-4D97-AF65-F5344CB8AC3E}">
        <p14:creationId xmlns:p14="http://schemas.microsoft.com/office/powerpoint/2010/main" val="1641179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702911A8-5615-D370-159B-B8149F5DC8A8}"/>
            </a:ext>
          </a:extLst>
        </p:cNvPr>
        <p:cNvGrpSpPr/>
        <p:nvPr/>
      </p:nvGrpSpPr>
      <p:grpSpPr>
        <a:xfrm>
          <a:off x="0" y="0"/>
          <a:ext cx="0" cy="0"/>
          <a:chOff x="0" y="0"/>
          <a:chExt cx="0" cy="0"/>
        </a:xfrm>
      </p:grpSpPr>
      <p:sp>
        <p:nvSpPr>
          <p:cNvPr id="252" name="Google Shape;252;p5">
            <a:extLst>
              <a:ext uri="{FF2B5EF4-FFF2-40B4-BE49-F238E27FC236}">
                <a16:creationId xmlns:a16="http://schemas.microsoft.com/office/drawing/2014/main" id="{2CE84C01-9778-B63D-15AF-C83B22C5B22B}"/>
              </a:ext>
            </a:extLst>
          </p:cNvPr>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8</a:t>
            </a:fld>
            <a:endParaRPr sz="1400" b="0" i="0" u="none" strike="noStrike" cap="none">
              <a:solidFill>
                <a:schemeClr val="dk1"/>
              </a:solidFill>
              <a:latin typeface="Verdana"/>
              <a:ea typeface="Verdana"/>
              <a:cs typeface="Verdana"/>
              <a:sym typeface="Verdana"/>
            </a:endParaRPr>
          </a:p>
        </p:txBody>
      </p:sp>
      <p:sp>
        <p:nvSpPr>
          <p:cNvPr id="253" name="Google Shape;253;p5">
            <a:extLst>
              <a:ext uri="{FF2B5EF4-FFF2-40B4-BE49-F238E27FC236}">
                <a16:creationId xmlns:a16="http://schemas.microsoft.com/office/drawing/2014/main" id="{F461D7A1-8CAD-7AC0-1732-292BD428C756}"/>
              </a:ext>
            </a:extLst>
          </p:cNvPr>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MỘT SỐ GIAO DIỆN CHÍNH</a:t>
            </a:r>
            <a:endParaRPr b="1" dirty="0">
              <a:latin typeface="Verdana"/>
              <a:ea typeface="Verdana"/>
              <a:cs typeface="Verdana"/>
              <a:sym typeface="Verdana"/>
            </a:endParaRPr>
          </a:p>
        </p:txBody>
      </p:sp>
      <p:pic>
        <p:nvPicPr>
          <p:cNvPr id="3074" name="Picture 1">
            <a:extLst>
              <a:ext uri="{FF2B5EF4-FFF2-40B4-BE49-F238E27FC236}">
                <a16:creationId xmlns:a16="http://schemas.microsoft.com/office/drawing/2014/main" id="{0382DA95-BC0F-31DB-5221-B99A327F2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2968" y="899498"/>
            <a:ext cx="8738801" cy="4960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4A5C45BF-ECC4-9A7F-86FF-656593071027}"/>
              </a:ext>
            </a:extLst>
          </p:cNvPr>
          <p:cNvSpPr txBox="1"/>
          <p:nvPr/>
        </p:nvSpPr>
        <p:spPr>
          <a:xfrm>
            <a:off x="196646" y="920621"/>
            <a:ext cx="2871019" cy="501675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Giao </a:t>
            </a:r>
            <a:r>
              <a:rPr lang="en-US" sz="2400" b="1" dirty="0" err="1">
                <a:latin typeface="Times New Roman" panose="02020603050405020304" pitchFamily="18" charset="0"/>
                <a:cs typeface="Times New Roman" panose="02020603050405020304" pitchFamily="18" charset="0"/>
              </a:rPr>
              <a:t>diện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nhân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viên</a:t>
            </a: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1600" dirty="0">
                <a:latin typeface="+mj-lt"/>
              </a:rPr>
              <a:t>Khu vực Danh sách: Phía trên là thanh tìm kiếm nhanh cùng cụm nút thao tác cơ bản (Thêm, Sửa, Xóa). Phía dưới là bảng lưới dữ liệu (Grid) hiển thị danh sách tổng quát các nhân viên hiện có.</a:t>
            </a:r>
            <a:endParaRPr lang="en-US" sz="1600" dirty="0">
              <a:latin typeface="+mj-lt"/>
            </a:endParaRPr>
          </a:p>
          <a:p>
            <a:pPr marL="342900" indent="-342900">
              <a:buFont typeface="Arial" panose="020B0604020202020204" pitchFamily="34" charset="0"/>
              <a:buChar char="•"/>
            </a:pPr>
            <a:r>
              <a:rPr lang="vi-VN" sz="1600" dirty="0">
                <a:latin typeface="+mj-lt"/>
              </a:rPr>
              <a:t>Khu vực Nhập liệu: Khung "THÔNG TIN NHÂN VIÊN" chứa các trường để điền/xem chi tiết hồ sơ và tài khoản cấp cho nhân viên (Họ tên, CCCD, Mật khẩu...), đi kèm cụm nút Hủy và Lưu để hoàn tất giao dịch.</a:t>
            </a:r>
            <a:endParaRPr lang="en-US" sz="1600" dirty="0">
              <a:latin typeface="+mj-lt"/>
              <a:cs typeface="Times New Roman" panose="02020603050405020304" pitchFamily="18" charset="0"/>
            </a:endParaRPr>
          </a:p>
        </p:txBody>
      </p:sp>
    </p:spTree>
    <p:extLst>
      <p:ext uri="{BB962C8B-B14F-4D97-AF65-F5344CB8AC3E}">
        <p14:creationId xmlns:p14="http://schemas.microsoft.com/office/powerpoint/2010/main" val="1925195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2A3D67E8-71AC-B809-120E-1328FCF6BE0F}"/>
            </a:ext>
          </a:extLst>
        </p:cNvPr>
        <p:cNvGrpSpPr/>
        <p:nvPr/>
      </p:nvGrpSpPr>
      <p:grpSpPr>
        <a:xfrm>
          <a:off x="0" y="0"/>
          <a:ext cx="0" cy="0"/>
          <a:chOff x="0" y="0"/>
          <a:chExt cx="0" cy="0"/>
        </a:xfrm>
      </p:grpSpPr>
      <p:sp>
        <p:nvSpPr>
          <p:cNvPr id="252" name="Google Shape;252;p5">
            <a:extLst>
              <a:ext uri="{FF2B5EF4-FFF2-40B4-BE49-F238E27FC236}">
                <a16:creationId xmlns:a16="http://schemas.microsoft.com/office/drawing/2014/main" id="{67276CCF-815C-5859-280A-ABE09EAC3E54}"/>
              </a:ext>
            </a:extLst>
          </p:cNvPr>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9</a:t>
            </a:fld>
            <a:endParaRPr sz="1400" b="0" i="0" u="none" strike="noStrike" cap="none">
              <a:solidFill>
                <a:schemeClr val="dk1"/>
              </a:solidFill>
              <a:latin typeface="Verdana"/>
              <a:ea typeface="Verdana"/>
              <a:cs typeface="Verdana"/>
              <a:sym typeface="Verdana"/>
            </a:endParaRPr>
          </a:p>
        </p:txBody>
      </p:sp>
      <p:sp>
        <p:nvSpPr>
          <p:cNvPr id="253" name="Google Shape;253;p5">
            <a:extLst>
              <a:ext uri="{FF2B5EF4-FFF2-40B4-BE49-F238E27FC236}">
                <a16:creationId xmlns:a16="http://schemas.microsoft.com/office/drawing/2014/main" id="{0764EA27-C003-64B0-7899-F29177D5FB2B}"/>
              </a:ext>
            </a:extLst>
          </p:cNvPr>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MỘT SỐ GIAO DIỆN CHÍNH</a:t>
            </a:r>
            <a:endParaRPr b="1" dirty="0">
              <a:latin typeface="Verdana"/>
              <a:ea typeface="Verdana"/>
              <a:cs typeface="Verdana"/>
              <a:sym typeface="Verdana"/>
            </a:endParaRPr>
          </a:p>
        </p:txBody>
      </p:sp>
      <p:sp>
        <p:nvSpPr>
          <p:cNvPr id="2" name="TextBox 1">
            <a:extLst>
              <a:ext uri="{FF2B5EF4-FFF2-40B4-BE49-F238E27FC236}">
                <a16:creationId xmlns:a16="http://schemas.microsoft.com/office/drawing/2014/main" id="{BABAB8BE-A7A7-AF43-DF4E-E57000550BEF}"/>
              </a:ext>
            </a:extLst>
          </p:cNvPr>
          <p:cNvSpPr txBox="1"/>
          <p:nvPr/>
        </p:nvSpPr>
        <p:spPr>
          <a:xfrm>
            <a:off x="196646" y="920621"/>
            <a:ext cx="2871019" cy="526297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Giao </a:t>
            </a:r>
            <a:r>
              <a:rPr lang="en-US" sz="2400" b="1" dirty="0" err="1">
                <a:latin typeface="Times New Roman" panose="02020603050405020304" pitchFamily="18" charset="0"/>
                <a:cs typeface="Times New Roman" panose="02020603050405020304" pitchFamily="18" charset="0"/>
              </a:rPr>
              <a:t>diện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độc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giả</a:t>
            </a: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1600" dirty="0">
                <a:latin typeface="+mj-lt"/>
              </a:rPr>
              <a:t>Khu vực Danh sách: Phía trên gồm thanh tìm kiếm nhanh và cụm nút thao tác cơ bản (Thêm, Sửa, Xóa). Phần dưới là bảng dữ liệu hiển thị danh sách tổng quát các độc giả (sinh viên/giảng viên) cùng thông tin cơ bản và tình trạng thẻ.</a:t>
            </a:r>
            <a:endParaRPr lang="en-US" sz="1600" dirty="0">
              <a:latin typeface="+mj-lt"/>
            </a:endParaRPr>
          </a:p>
          <a:p>
            <a:pPr marL="342900" indent="-342900">
              <a:buFont typeface="Arial" panose="020B0604020202020204" pitchFamily="34" charset="0"/>
              <a:buChar char="•"/>
            </a:pPr>
            <a:r>
              <a:rPr lang="vi-VN" sz="1600" dirty="0">
                <a:latin typeface="+mj-lt"/>
              </a:rPr>
              <a:t>Khu vực Nhập liệu: Khung "THÔNG TIN ĐỘC GIẢ" chứa các trường để xem hoặc điền chi tiết hồ sơ người mượn (Họ tên, Khoa, Ngày hết hạn thẻ, Trạng thái hoạt động...), đi kèm hai nút Hủy và Lưu để hoàn tất cập nhật.</a:t>
            </a:r>
            <a:endParaRPr lang="en-US" sz="1600" dirty="0">
              <a:latin typeface="+mj-lt"/>
              <a:cs typeface="Times New Roman" panose="02020603050405020304" pitchFamily="18" charset="0"/>
            </a:endParaRPr>
          </a:p>
        </p:txBody>
      </p:sp>
      <p:pic>
        <p:nvPicPr>
          <p:cNvPr id="4098" name="Picture 1">
            <a:extLst>
              <a:ext uri="{FF2B5EF4-FFF2-40B4-BE49-F238E27FC236}">
                <a16:creationId xmlns:a16="http://schemas.microsoft.com/office/drawing/2014/main" id="{7C332F0A-7362-AEF6-326C-661F44A59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768" y="858768"/>
            <a:ext cx="8434002" cy="52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4111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5DDC56D9-C145-C874-E87E-2EE342989FC4}"/>
            </a:ext>
          </a:extLst>
        </p:cNvPr>
        <p:cNvGrpSpPr/>
        <p:nvPr/>
      </p:nvGrpSpPr>
      <p:grpSpPr>
        <a:xfrm>
          <a:off x="0" y="0"/>
          <a:ext cx="0" cy="0"/>
          <a:chOff x="0" y="0"/>
          <a:chExt cx="0" cy="0"/>
        </a:xfrm>
      </p:grpSpPr>
      <p:sp>
        <p:nvSpPr>
          <p:cNvPr id="252" name="Google Shape;252;p5">
            <a:extLst>
              <a:ext uri="{FF2B5EF4-FFF2-40B4-BE49-F238E27FC236}">
                <a16:creationId xmlns:a16="http://schemas.microsoft.com/office/drawing/2014/main" id="{57BC4DE6-324F-ABC6-3F40-C9220C8D3B45}"/>
              </a:ext>
            </a:extLst>
          </p:cNvPr>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10</a:t>
            </a:fld>
            <a:endParaRPr sz="1400" b="0" i="0" u="none" strike="noStrike" cap="none">
              <a:solidFill>
                <a:schemeClr val="dk1"/>
              </a:solidFill>
              <a:latin typeface="Verdana"/>
              <a:ea typeface="Verdana"/>
              <a:cs typeface="Verdana"/>
              <a:sym typeface="Verdana"/>
            </a:endParaRPr>
          </a:p>
        </p:txBody>
      </p:sp>
      <p:sp>
        <p:nvSpPr>
          <p:cNvPr id="253" name="Google Shape;253;p5">
            <a:extLst>
              <a:ext uri="{FF2B5EF4-FFF2-40B4-BE49-F238E27FC236}">
                <a16:creationId xmlns:a16="http://schemas.microsoft.com/office/drawing/2014/main" id="{D570B221-CEA5-2ABC-9EFF-286AC2B79748}"/>
              </a:ext>
            </a:extLst>
          </p:cNvPr>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MỘT SỐ GIAO DIỆN CHÍNH</a:t>
            </a:r>
            <a:endParaRPr b="1" dirty="0">
              <a:latin typeface="Verdana"/>
              <a:ea typeface="Verdana"/>
              <a:cs typeface="Verdana"/>
              <a:sym typeface="Verdana"/>
            </a:endParaRPr>
          </a:p>
        </p:txBody>
      </p:sp>
      <p:sp>
        <p:nvSpPr>
          <p:cNvPr id="2" name="TextBox 1">
            <a:extLst>
              <a:ext uri="{FF2B5EF4-FFF2-40B4-BE49-F238E27FC236}">
                <a16:creationId xmlns:a16="http://schemas.microsoft.com/office/drawing/2014/main" id="{281D2C94-BE4C-A6E9-6EA8-EF019647C41E}"/>
              </a:ext>
            </a:extLst>
          </p:cNvPr>
          <p:cNvSpPr txBox="1"/>
          <p:nvPr/>
        </p:nvSpPr>
        <p:spPr>
          <a:xfrm>
            <a:off x="196646" y="920621"/>
            <a:ext cx="2871019" cy="550920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Giao </a:t>
            </a:r>
            <a:r>
              <a:rPr lang="en-US" sz="2400" b="1" dirty="0" err="1">
                <a:latin typeface="Times New Roman" panose="02020603050405020304" pitchFamily="18" charset="0"/>
                <a:cs typeface="Times New Roman" panose="02020603050405020304" pitchFamily="18" charset="0"/>
              </a:rPr>
              <a:t>diện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sách</a:t>
            </a: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1600" dirty="0">
                <a:latin typeface="+mj-lt"/>
              </a:rPr>
              <a:t>Khu vực Danh sách: Phía trên gồm thanh tìm kiếm nhanh và cụm nút thao tác cơ bản (</a:t>
            </a:r>
            <a:r>
              <a:rPr lang="vi-VN" sz="1600" b="1" dirty="0">
                <a:latin typeface="+mj-lt"/>
              </a:rPr>
              <a:t>Thêm, Sửa, Xóa</a:t>
            </a:r>
            <a:r>
              <a:rPr lang="vi-VN" sz="1600" dirty="0">
                <a:latin typeface="+mj-lt"/>
              </a:rPr>
              <a:t>). Phần dưới là bảng dữ liệu hiển thị danh sách tổng quát các đầu sách hiện có trong thư viện cùng các thông tin chi tiết (Tác giả, Nhà XB, Số lượng tồn, Giá sách...).</a:t>
            </a:r>
            <a:endParaRPr lang="en-US" sz="1600" dirty="0">
              <a:latin typeface="+mj-lt"/>
            </a:endParaRPr>
          </a:p>
          <a:p>
            <a:pPr marL="342900" indent="-342900">
              <a:buFont typeface="Arial" panose="020B0604020202020204" pitchFamily="34" charset="0"/>
              <a:buChar char="•"/>
            </a:pPr>
            <a:r>
              <a:rPr lang="vi-VN" sz="1600" dirty="0">
                <a:latin typeface="+mj-lt"/>
              </a:rPr>
              <a:t>Khu vực Nhập liệu: Khung "CHI TIẾT SÁCH" chứa các trường để xem hoặc điền thông tin chi tiết của một cuốn sách (Tên sách, Tác giả, Năm XB, Danh mục, Số lượng...), đi kèm hai nút </a:t>
            </a:r>
            <a:r>
              <a:rPr lang="vi-VN" sz="1600" b="1" dirty="0">
                <a:latin typeface="+mj-lt"/>
              </a:rPr>
              <a:t>Hủy</a:t>
            </a:r>
            <a:r>
              <a:rPr lang="vi-VN" sz="1600" dirty="0">
                <a:latin typeface="+mj-lt"/>
              </a:rPr>
              <a:t> và </a:t>
            </a:r>
            <a:r>
              <a:rPr lang="vi-VN" sz="1600" b="1" dirty="0">
                <a:latin typeface="+mj-lt"/>
              </a:rPr>
              <a:t>Lưu</a:t>
            </a:r>
            <a:r>
              <a:rPr lang="vi-VN" sz="1600" dirty="0">
                <a:latin typeface="+mj-lt"/>
              </a:rPr>
              <a:t> để hoàn tất cập nhật.</a:t>
            </a:r>
            <a:endParaRPr lang="en-US" sz="1600" dirty="0">
              <a:latin typeface="+mj-lt"/>
              <a:cs typeface="Times New Roman" panose="02020603050405020304" pitchFamily="18" charset="0"/>
            </a:endParaRPr>
          </a:p>
        </p:txBody>
      </p:sp>
      <p:pic>
        <p:nvPicPr>
          <p:cNvPr id="5122" name="Picture 1">
            <a:extLst>
              <a:ext uri="{FF2B5EF4-FFF2-40B4-BE49-F238E27FC236}">
                <a16:creationId xmlns:a16="http://schemas.microsoft.com/office/drawing/2014/main" id="{D2DEAA1C-F6C1-E5A9-F444-41B3B76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148" y="920621"/>
            <a:ext cx="8780206"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1087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F6EF1F4E-BF21-E8CC-0CE7-DA5E45787963}"/>
            </a:ext>
          </a:extLst>
        </p:cNvPr>
        <p:cNvGrpSpPr/>
        <p:nvPr/>
      </p:nvGrpSpPr>
      <p:grpSpPr>
        <a:xfrm>
          <a:off x="0" y="0"/>
          <a:ext cx="0" cy="0"/>
          <a:chOff x="0" y="0"/>
          <a:chExt cx="0" cy="0"/>
        </a:xfrm>
      </p:grpSpPr>
      <p:sp>
        <p:nvSpPr>
          <p:cNvPr id="252" name="Google Shape;252;p5">
            <a:extLst>
              <a:ext uri="{FF2B5EF4-FFF2-40B4-BE49-F238E27FC236}">
                <a16:creationId xmlns:a16="http://schemas.microsoft.com/office/drawing/2014/main" id="{E08E5ED9-B050-7764-AA0F-47E54623C1E5}"/>
              </a:ext>
            </a:extLst>
          </p:cNvPr>
          <p:cNvSpPr txBox="1">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Verdana"/>
              <a:buNone/>
            </a:pPr>
            <a:fld id="{00000000-1234-1234-1234-123412341234}" type="slidenum">
              <a:rPr lang="vi-VN" sz="1400" b="0" i="0" u="none" strike="noStrike" cap="none">
                <a:solidFill>
                  <a:schemeClr val="dk1"/>
                </a:solidFill>
                <a:latin typeface="Verdana"/>
                <a:ea typeface="Verdana"/>
                <a:cs typeface="Verdana"/>
                <a:sym typeface="Verdana"/>
              </a:rPr>
              <a:t>11</a:t>
            </a:fld>
            <a:endParaRPr sz="1400" b="0" i="0" u="none" strike="noStrike" cap="none">
              <a:solidFill>
                <a:schemeClr val="dk1"/>
              </a:solidFill>
              <a:latin typeface="Verdana"/>
              <a:ea typeface="Verdana"/>
              <a:cs typeface="Verdana"/>
              <a:sym typeface="Verdana"/>
            </a:endParaRPr>
          </a:p>
        </p:txBody>
      </p:sp>
      <p:sp>
        <p:nvSpPr>
          <p:cNvPr id="253" name="Google Shape;253;p5">
            <a:extLst>
              <a:ext uri="{FF2B5EF4-FFF2-40B4-BE49-F238E27FC236}">
                <a16:creationId xmlns:a16="http://schemas.microsoft.com/office/drawing/2014/main" id="{21F45795-A1EA-DD2C-E8FC-287CEA53031C}"/>
              </a:ext>
            </a:extLst>
          </p:cNvPr>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en-US" b="1" dirty="0">
                <a:latin typeface="Verdana"/>
                <a:ea typeface="Verdana"/>
                <a:cs typeface="Verdana"/>
                <a:sym typeface="Verdana"/>
              </a:rPr>
              <a:t>MỘT SỐ GIAO DIỆN CHÍNH</a:t>
            </a:r>
            <a:endParaRPr b="1" dirty="0">
              <a:latin typeface="Verdana"/>
              <a:ea typeface="Verdana"/>
              <a:cs typeface="Verdana"/>
              <a:sym typeface="Verdana"/>
            </a:endParaRPr>
          </a:p>
        </p:txBody>
      </p:sp>
      <p:sp>
        <p:nvSpPr>
          <p:cNvPr id="2" name="TextBox 1">
            <a:extLst>
              <a:ext uri="{FF2B5EF4-FFF2-40B4-BE49-F238E27FC236}">
                <a16:creationId xmlns:a16="http://schemas.microsoft.com/office/drawing/2014/main" id="{166DC3A0-C0F7-639A-873E-D0F95BE11CA4}"/>
              </a:ext>
            </a:extLst>
          </p:cNvPr>
          <p:cNvSpPr txBox="1"/>
          <p:nvPr/>
        </p:nvSpPr>
        <p:spPr>
          <a:xfrm>
            <a:off x="110231" y="783725"/>
            <a:ext cx="2979173" cy="6001643"/>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Giao </a:t>
            </a:r>
            <a:r>
              <a:rPr lang="en-US" sz="2400" b="1" dirty="0" err="1">
                <a:latin typeface="Times New Roman" panose="02020603050405020304" pitchFamily="18" charset="0"/>
                <a:cs typeface="Times New Roman" panose="02020603050405020304" pitchFamily="18" charset="0"/>
              </a:rPr>
              <a:t>diện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mượn</a:t>
            </a:r>
            <a:r>
              <a:rPr lang="en-US" sz="2400" b="1" dirty="0">
                <a:latin typeface="Times New Roman" panose="02020603050405020304" pitchFamily="18" charset="0"/>
                <a:cs typeface="Times New Roman" panose="02020603050405020304" pitchFamily="18" charset="0"/>
              </a:rPr>
              <a:t> – </a:t>
            </a:r>
            <a:r>
              <a:rPr lang="en-US" sz="2400" b="1" dirty="0" err="1">
                <a:latin typeface="Times New Roman" panose="02020603050405020304" pitchFamily="18" charset="0"/>
                <a:cs typeface="Times New Roman" panose="02020603050405020304" pitchFamily="18" charset="0"/>
              </a:rPr>
              <a:t>trả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sách</a:t>
            </a:r>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1600" dirty="0">
                <a:latin typeface="Times New Roman" panose="02020603050405020304" pitchFamily="18" charset="0"/>
                <a:cs typeface="Times New Roman" panose="02020603050405020304" pitchFamily="18" charset="0"/>
              </a:rPr>
              <a:t>Khu vực Danh sách: Phía trên gồm thanh tìm kiếm nhanh và cụm nút thao tác nghiệp vụ đặc thù (Mượn sách, Trả sách). Phần dưới là bảng dữ liệu hiển thị chi tiết lịch sử các giao dịch lưu thông sách (Mã phiếu, thông tin độc giả, thông tin sách, ngày hẹn/trả thực tế, tiền phạt và tình trạng).</a:t>
            </a: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vi-VN" sz="1600" dirty="0">
                <a:latin typeface="Times New Roman" panose="02020603050405020304" pitchFamily="18" charset="0"/>
                <a:cs typeface="Times New Roman" panose="02020603050405020304" pitchFamily="18" charset="0"/>
              </a:rPr>
              <a:t>Khu vực Nhập liệu: Khung "THÔNG TIN MƯỢN TRẢ" chứa các trường để xem hoặc thiết lập thông tin giao dịch, đi kèm cụm nút Hủy và Lưu phiếu để hoàn tất. Phía dưới cùng được tích hợp thêm các nút chức năng hỗ trợ xuất chứng từ nhanh (In Phiếu Mượn, In Biên Lai Phạt).</a:t>
            </a:r>
            <a:endParaRPr lang="en-US" sz="1600" dirty="0">
              <a:latin typeface="Times New Roman" panose="02020603050405020304" pitchFamily="18" charset="0"/>
              <a:cs typeface="Times New Roman" panose="02020603050405020304" pitchFamily="18" charset="0"/>
            </a:endParaRPr>
          </a:p>
        </p:txBody>
      </p:sp>
      <p:pic>
        <p:nvPicPr>
          <p:cNvPr id="6146" name="Picture 1">
            <a:extLst>
              <a:ext uri="{FF2B5EF4-FFF2-40B4-BE49-F238E27FC236}">
                <a16:creationId xmlns:a16="http://schemas.microsoft.com/office/drawing/2014/main" id="{A809338E-388A-0A82-4C12-453C96EFA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3807" y="920621"/>
            <a:ext cx="8787962" cy="526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925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4"/>
          <p:cNvSpPr txBox="1">
            <a:spLocks noGrp="1"/>
          </p:cNvSpPr>
          <p:nvPr>
            <p:ph type="title"/>
          </p:nvPr>
        </p:nvSpPr>
        <p:spPr>
          <a:xfrm>
            <a:off x="906236" y="144624"/>
            <a:ext cx="8077200" cy="609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Verdana"/>
              <a:buNone/>
            </a:pPr>
            <a:r>
              <a:rPr lang="vi-VN" b="1">
                <a:latin typeface="Verdana"/>
                <a:ea typeface="Verdana"/>
                <a:cs typeface="Verdana"/>
                <a:sym typeface="Verdana"/>
              </a:rPr>
              <a:t>Kết Luận &amp; Hướng Phát Triển</a:t>
            </a:r>
            <a:endParaRPr b="1">
              <a:latin typeface="Verdana"/>
              <a:ea typeface="Verdana"/>
              <a:cs typeface="Verdana"/>
              <a:sym typeface="Verdana"/>
            </a:endParaRPr>
          </a:p>
        </p:txBody>
      </p:sp>
      <p:sp>
        <p:nvSpPr>
          <p:cNvPr id="3" name="Text Placeholder 2">
            <a:extLst>
              <a:ext uri="{FF2B5EF4-FFF2-40B4-BE49-F238E27FC236}">
                <a16:creationId xmlns:a16="http://schemas.microsoft.com/office/drawing/2014/main" id="{4B194223-2DC2-B794-E2DF-61440B50B64E}"/>
              </a:ext>
            </a:extLst>
          </p:cNvPr>
          <p:cNvSpPr>
            <a:spLocks noGrp="1"/>
          </p:cNvSpPr>
          <p:nvPr>
            <p:ph type="body" idx="1"/>
          </p:nvPr>
        </p:nvSpPr>
        <p:spPr>
          <a:xfrm>
            <a:off x="230819" y="775504"/>
            <a:ext cx="11771791" cy="5937872"/>
          </a:xfrm>
        </p:spPr>
        <p:txBody>
          <a:bodyPr>
            <a:normAutofit fontScale="55000" lnSpcReduction="20000"/>
          </a:bodyPr>
          <a:lstStyle/>
          <a:p>
            <a:pPr marL="0" lvl="0" indent="0">
              <a:lnSpc>
                <a:spcPct val="115000"/>
              </a:lnSpc>
              <a:spcBef>
                <a:spcPts val="1200"/>
              </a:spcBef>
              <a:buSzPts val="2000"/>
              <a:buNone/>
            </a:pPr>
            <a:r>
              <a:rPr lang="en-US" sz="4400" dirty="0" err="1">
                <a:latin typeface="Times New Roman" panose="02020603050405020304" pitchFamily="18" charset="0"/>
                <a:cs typeface="Times New Roman" panose="02020603050405020304" pitchFamily="18" charset="0"/>
              </a:rPr>
              <a:t>Kết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luận</a:t>
            </a:r>
            <a:r>
              <a:rPr lang="en-US" sz="4400" dirty="0">
                <a:latin typeface="Times New Roman" panose="02020603050405020304" pitchFamily="18" charset="0"/>
                <a:cs typeface="Times New Roman" panose="02020603050405020304" pitchFamily="18" charset="0"/>
              </a:rPr>
              <a:t>:</a:t>
            </a:r>
          </a:p>
          <a:p>
            <a:pPr marL="342900">
              <a:lnSpc>
                <a:spcPct val="115000"/>
              </a:lnSpc>
              <a:spcBef>
                <a:spcPts val="1200"/>
              </a:spcBef>
              <a:buSzPts val="2000"/>
            </a:pPr>
            <a:r>
              <a:rPr lang="en-US" sz="2900" dirty="0" err="1"/>
              <a:t>Về</a:t>
            </a:r>
            <a:r>
              <a:rPr lang="en-US" sz="2900" dirty="0"/>
              <a:t> </a:t>
            </a:r>
            <a:r>
              <a:rPr lang="en-US" sz="2900" dirty="0" err="1"/>
              <a:t>kỹ</a:t>
            </a:r>
            <a:r>
              <a:rPr lang="en-US" sz="2900" dirty="0"/>
              <a:t> </a:t>
            </a:r>
            <a:r>
              <a:rPr lang="en-US" sz="2900" dirty="0" err="1"/>
              <a:t>thuật</a:t>
            </a:r>
            <a:r>
              <a:rPr lang="en-US" sz="2900" dirty="0"/>
              <a:t>: </a:t>
            </a:r>
            <a:r>
              <a:rPr lang="en-US" sz="2900" dirty="0" err="1"/>
              <a:t>Xây</a:t>
            </a:r>
            <a:r>
              <a:rPr lang="en-US" sz="2900" dirty="0"/>
              <a:t> </a:t>
            </a:r>
            <a:r>
              <a:rPr lang="en-US" sz="2900" dirty="0" err="1"/>
              <a:t>dựng</a:t>
            </a:r>
            <a:r>
              <a:rPr lang="en-US" sz="2900" dirty="0"/>
              <a:t> </a:t>
            </a:r>
            <a:r>
              <a:rPr lang="en-US" sz="2900" dirty="0" err="1"/>
              <a:t>thành</a:t>
            </a:r>
            <a:r>
              <a:rPr lang="en-US" sz="2900" dirty="0"/>
              <a:t> </a:t>
            </a:r>
            <a:r>
              <a:rPr lang="en-US" sz="2900" dirty="0" err="1"/>
              <a:t>công</a:t>
            </a:r>
            <a:r>
              <a:rPr lang="en-US" sz="2900" dirty="0"/>
              <a:t> </a:t>
            </a:r>
            <a:r>
              <a:rPr lang="en-US" sz="2900" dirty="0" err="1"/>
              <a:t>ứng</a:t>
            </a:r>
            <a:r>
              <a:rPr lang="en-US" sz="2900" dirty="0"/>
              <a:t> </a:t>
            </a:r>
            <a:r>
              <a:rPr lang="en-US" sz="2900" dirty="0" err="1"/>
              <a:t>dụng</a:t>
            </a:r>
            <a:r>
              <a:rPr lang="en-US" sz="2900" dirty="0"/>
              <a:t> Desktop </a:t>
            </a:r>
            <a:r>
              <a:rPr lang="en-US" sz="2900" dirty="0" err="1"/>
              <a:t>bằng</a:t>
            </a:r>
            <a:r>
              <a:rPr lang="en-US" sz="2900" dirty="0"/>
              <a:t> C# (WinForms) </a:t>
            </a:r>
            <a:r>
              <a:rPr lang="en-US" sz="2900" dirty="0" err="1"/>
              <a:t>và</a:t>
            </a:r>
            <a:r>
              <a:rPr lang="en-US" sz="2900" dirty="0"/>
              <a:t> SQL Server, </a:t>
            </a:r>
            <a:r>
              <a:rPr lang="en-US" sz="2900" dirty="0" err="1"/>
              <a:t>giao</a:t>
            </a:r>
            <a:r>
              <a:rPr lang="en-US" sz="2900" dirty="0"/>
              <a:t> </a:t>
            </a:r>
            <a:r>
              <a:rPr lang="en-US" sz="2900" dirty="0" err="1"/>
              <a:t>diện</a:t>
            </a:r>
            <a:r>
              <a:rPr lang="en-US" sz="2900" dirty="0"/>
              <a:t> </a:t>
            </a:r>
            <a:r>
              <a:rPr lang="en-US" sz="2900" dirty="0" err="1"/>
              <a:t>hiện</a:t>
            </a:r>
            <a:r>
              <a:rPr lang="en-US" sz="2900" dirty="0"/>
              <a:t> </a:t>
            </a:r>
            <a:r>
              <a:rPr lang="en-US" sz="2900" dirty="0" err="1"/>
              <a:t>đại</a:t>
            </a:r>
            <a:r>
              <a:rPr lang="en-US" sz="2900" dirty="0"/>
              <a:t> </a:t>
            </a:r>
            <a:r>
              <a:rPr lang="en-US" sz="2900" dirty="0" err="1"/>
              <a:t>với</a:t>
            </a:r>
            <a:r>
              <a:rPr lang="en-US" sz="2900" dirty="0"/>
              <a:t> Guna.UI2.</a:t>
            </a:r>
          </a:p>
          <a:p>
            <a:pPr marL="342900">
              <a:lnSpc>
                <a:spcPct val="115000"/>
              </a:lnSpc>
              <a:spcBef>
                <a:spcPts val="1200"/>
              </a:spcBef>
              <a:buSzPts val="2000"/>
            </a:pPr>
            <a:r>
              <a:rPr lang="vi-VN" sz="2900" dirty="0"/>
              <a:t>Về hệ thống: Đảm bảo tính bảo mật với cơ sở phân quyền chặt chẽ giữa Admin và Thủ thư. </a:t>
            </a:r>
            <a:endParaRPr lang="en-US" sz="2900" dirty="0"/>
          </a:p>
          <a:p>
            <a:pPr marL="342900">
              <a:lnSpc>
                <a:spcPct val="115000"/>
              </a:lnSpc>
              <a:spcBef>
                <a:spcPts val="1200"/>
              </a:spcBef>
              <a:buSzPts val="2000"/>
            </a:pPr>
            <a:r>
              <a:rPr lang="en-US" sz="2900" dirty="0" err="1"/>
              <a:t>Về</a:t>
            </a:r>
            <a:r>
              <a:rPr lang="en-US" sz="2900" dirty="0"/>
              <a:t> </a:t>
            </a:r>
            <a:r>
              <a:rPr lang="en-US" sz="2900" dirty="0" err="1"/>
              <a:t>báo</a:t>
            </a:r>
            <a:r>
              <a:rPr lang="en-US" sz="2900" dirty="0"/>
              <a:t> </a:t>
            </a:r>
            <a:r>
              <a:rPr lang="en-US" sz="2900" dirty="0" err="1"/>
              <a:t>cáo</a:t>
            </a:r>
            <a:r>
              <a:rPr lang="en-US" sz="2900" dirty="0"/>
              <a:t>: </a:t>
            </a:r>
            <a:r>
              <a:rPr lang="en-US" sz="2900" dirty="0" err="1"/>
              <a:t>Hỗ</a:t>
            </a:r>
            <a:r>
              <a:rPr lang="en-US" sz="2900" dirty="0"/>
              <a:t> </a:t>
            </a:r>
            <a:r>
              <a:rPr lang="en-US" sz="2900" dirty="0" err="1"/>
              <a:t>trợ</a:t>
            </a:r>
            <a:r>
              <a:rPr lang="en-US" sz="2900" dirty="0"/>
              <a:t> </a:t>
            </a:r>
            <a:r>
              <a:rPr lang="en-US" sz="2900" dirty="0" err="1"/>
              <a:t>xuất</a:t>
            </a:r>
            <a:r>
              <a:rPr lang="en-US" sz="2900" dirty="0"/>
              <a:t> </a:t>
            </a:r>
            <a:r>
              <a:rPr lang="en-US" sz="2900" dirty="0" err="1"/>
              <a:t>dữ</a:t>
            </a:r>
            <a:r>
              <a:rPr lang="en-US" sz="2900" dirty="0"/>
              <a:t> </a:t>
            </a:r>
            <a:r>
              <a:rPr lang="en-US" sz="2900" dirty="0" err="1"/>
              <a:t>liệu</a:t>
            </a:r>
            <a:r>
              <a:rPr lang="en-US" sz="2900" dirty="0"/>
              <a:t> </a:t>
            </a:r>
            <a:r>
              <a:rPr lang="en-US" sz="2900" dirty="0" err="1"/>
              <a:t>ra</a:t>
            </a:r>
            <a:r>
              <a:rPr lang="en-US" sz="2900" dirty="0"/>
              <a:t> Excel </a:t>
            </a:r>
            <a:r>
              <a:rPr lang="en-US" sz="2900" dirty="0" err="1"/>
              <a:t>và</a:t>
            </a:r>
            <a:r>
              <a:rPr lang="en-US" sz="2900" dirty="0"/>
              <a:t> in </a:t>
            </a:r>
            <a:r>
              <a:rPr lang="en-US" sz="2900" dirty="0" err="1"/>
              <a:t>ấn</a:t>
            </a:r>
            <a:r>
              <a:rPr lang="en-US" sz="2900" dirty="0"/>
              <a:t> </a:t>
            </a:r>
            <a:r>
              <a:rPr lang="en-US" sz="2900" dirty="0" err="1"/>
              <a:t>chứng</a:t>
            </a:r>
            <a:r>
              <a:rPr lang="en-US" sz="2900" dirty="0"/>
              <a:t> </a:t>
            </a:r>
            <a:r>
              <a:rPr lang="en-US" sz="2900" dirty="0" err="1"/>
              <a:t>từ</a:t>
            </a:r>
            <a:r>
              <a:rPr lang="en-US" sz="2900" dirty="0"/>
              <a:t> </a:t>
            </a:r>
            <a:r>
              <a:rPr lang="en-US" sz="2900" dirty="0" err="1"/>
              <a:t>chuyên</a:t>
            </a:r>
            <a:r>
              <a:rPr lang="en-US" sz="2900" dirty="0"/>
              <a:t> </a:t>
            </a:r>
            <a:r>
              <a:rPr lang="en-US" sz="2900" dirty="0" err="1"/>
              <a:t>nghiệp</a:t>
            </a:r>
            <a:r>
              <a:rPr lang="en-US" sz="2900" dirty="0"/>
              <a:t> qua Crystal Reports. </a:t>
            </a:r>
            <a:endParaRPr lang="en-US" sz="2900" dirty="0">
              <a:latin typeface="Times New Roman" panose="02020603050405020304" pitchFamily="18" charset="0"/>
              <a:cs typeface="Times New Roman" panose="02020603050405020304" pitchFamily="18" charset="0"/>
            </a:endParaRPr>
          </a:p>
          <a:p>
            <a:pPr marL="0" indent="0">
              <a:lnSpc>
                <a:spcPct val="115000"/>
              </a:lnSpc>
              <a:spcBef>
                <a:spcPts val="1200"/>
              </a:spcBef>
              <a:buSzPts val="2000"/>
              <a:buNone/>
            </a:pPr>
            <a:r>
              <a:rPr lang="vi-VN" sz="4400" dirty="0">
                <a:latin typeface="Times New Roman" panose="02020603050405020304" pitchFamily="18" charset="0"/>
                <a:cs typeface="Times New Roman" panose="02020603050405020304" pitchFamily="18" charset="0"/>
              </a:rPr>
              <a:t>Hạn chế:</a:t>
            </a:r>
            <a:endParaRPr lang="en-US" sz="4400" dirty="0">
              <a:latin typeface="Times New Roman" panose="02020603050405020304" pitchFamily="18" charset="0"/>
              <a:cs typeface="Times New Roman" panose="02020603050405020304" pitchFamily="18" charset="0"/>
            </a:endParaRPr>
          </a:p>
          <a:p>
            <a:pPr marL="342900">
              <a:lnSpc>
                <a:spcPct val="115000"/>
              </a:lnSpc>
              <a:spcBef>
                <a:spcPts val="1200"/>
              </a:spcBef>
              <a:buSzPts val="2000"/>
            </a:pPr>
            <a:r>
              <a:rPr lang="vi-VN" sz="2900" dirty="0"/>
              <a:t>Phạm vi sử dụng: Phần mềm mới chỉ phục vụ quản lý nội bộ, chưa có cổng thông tin trực tuyến (Web/App) cho độc giả tra cứu.</a:t>
            </a:r>
            <a:endParaRPr lang="en-US" sz="2900" dirty="0"/>
          </a:p>
          <a:p>
            <a:pPr marL="342900">
              <a:lnSpc>
                <a:spcPct val="115000"/>
              </a:lnSpc>
              <a:spcBef>
                <a:spcPts val="1200"/>
              </a:spcBef>
              <a:buSzPts val="2000"/>
            </a:pPr>
            <a:r>
              <a:rPr lang="vi-VN" sz="2900" dirty="0"/>
              <a:t>Công nghệ tích hợp: Chưa ứng dụng các công nghệ nhận diện phần cứng hiện đại như quét mã vạch hay RFID</a:t>
            </a:r>
            <a:r>
              <a:rPr lang="en-US" sz="2900" dirty="0"/>
              <a:t>.</a:t>
            </a:r>
          </a:p>
          <a:p>
            <a:pPr marL="342900">
              <a:lnSpc>
                <a:spcPct val="115000"/>
              </a:lnSpc>
              <a:spcBef>
                <a:spcPts val="1200"/>
              </a:spcBef>
              <a:buSzPts val="2000"/>
            </a:pPr>
            <a:r>
              <a:rPr lang="vi-VN" sz="2900" dirty="0"/>
              <a:t>Lưu trữ dữ liệu: Cơ sở dữ liệu hiện tại đang vận hành cục bộ (Local), chưa được đồng bộ lên nền tảng đám mây.</a:t>
            </a:r>
            <a:endParaRPr lang="en-US" sz="2900" dirty="0"/>
          </a:p>
          <a:p>
            <a:pPr marL="0" indent="0">
              <a:lnSpc>
                <a:spcPct val="115000"/>
              </a:lnSpc>
              <a:spcBef>
                <a:spcPts val="1200"/>
              </a:spcBef>
              <a:buSzPts val="2000"/>
              <a:buNone/>
            </a:pPr>
            <a:r>
              <a:rPr lang="vi-VN" sz="4400" dirty="0">
                <a:latin typeface="Times New Roman" panose="02020603050405020304" pitchFamily="18" charset="0"/>
                <a:cs typeface="Times New Roman" panose="02020603050405020304" pitchFamily="18" charset="0"/>
              </a:rPr>
              <a:t>Hướng phát triển:</a:t>
            </a:r>
            <a:endParaRPr lang="en-US" sz="4400" dirty="0">
              <a:latin typeface="Times New Roman" panose="02020603050405020304" pitchFamily="18" charset="0"/>
              <a:cs typeface="Times New Roman" panose="02020603050405020304" pitchFamily="18" charset="0"/>
            </a:endParaRPr>
          </a:p>
          <a:p>
            <a:r>
              <a:rPr lang="vi-VN" sz="2900" dirty="0"/>
              <a:t>Mở rộng hệ sinh thái: Phát triển thêm phân hệ Website tra cứu (OPAC) cho phép sinh viên UTEHY tìm kiếm và đặt mượn sách trực tuyến.</a:t>
            </a:r>
            <a:endParaRPr lang="en-US" sz="2900" dirty="0"/>
          </a:p>
          <a:p>
            <a:pPr lvl="0">
              <a:buFont typeface="Arial" panose="020B0604020202020204" pitchFamily="34" charset="0"/>
              <a:buChar char="•"/>
            </a:pPr>
            <a:r>
              <a:rPr lang="en-US" sz="2900" dirty="0" err="1"/>
              <a:t>Tích</a:t>
            </a:r>
            <a:r>
              <a:rPr lang="en-US" sz="2900" dirty="0"/>
              <a:t> </a:t>
            </a:r>
            <a:r>
              <a:rPr lang="en-US" sz="2900" dirty="0" err="1"/>
              <a:t>hợp</a:t>
            </a:r>
            <a:r>
              <a:rPr lang="en-US" sz="2900" dirty="0"/>
              <a:t> </a:t>
            </a:r>
            <a:r>
              <a:rPr lang="en-US" sz="2900" dirty="0" err="1"/>
              <a:t>phần</a:t>
            </a:r>
            <a:r>
              <a:rPr lang="en-US" sz="2900" dirty="0"/>
              <a:t> </a:t>
            </a:r>
            <a:r>
              <a:rPr lang="en-US" sz="2900" dirty="0" err="1"/>
              <a:t>cứng</a:t>
            </a:r>
            <a:r>
              <a:rPr lang="en-US" sz="2900" dirty="0"/>
              <a:t>: </a:t>
            </a:r>
            <a:r>
              <a:rPr lang="en-US" sz="2900" dirty="0" err="1"/>
              <a:t>Ứng</a:t>
            </a:r>
            <a:r>
              <a:rPr lang="en-US" sz="2900" dirty="0"/>
              <a:t> </a:t>
            </a:r>
            <a:r>
              <a:rPr lang="en-US" sz="2900" dirty="0" err="1"/>
              <a:t>dụng</a:t>
            </a:r>
            <a:r>
              <a:rPr lang="en-US" sz="2900" dirty="0"/>
              <a:t> </a:t>
            </a:r>
            <a:r>
              <a:rPr lang="en-US" sz="2900" dirty="0" err="1"/>
              <a:t>đầu</a:t>
            </a:r>
            <a:r>
              <a:rPr lang="en-US" sz="2900" dirty="0"/>
              <a:t> </a:t>
            </a:r>
            <a:r>
              <a:rPr lang="en-US" sz="2900" dirty="0" err="1"/>
              <a:t>đọc</a:t>
            </a:r>
            <a:r>
              <a:rPr lang="en-US" sz="2900" dirty="0"/>
              <a:t> </a:t>
            </a:r>
            <a:r>
              <a:rPr lang="en-US" sz="2900" dirty="0" err="1"/>
              <a:t>mã</a:t>
            </a:r>
            <a:r>
              <a:rPr lang="en-US" sz="2900" dirty="0"/>
              <a:t> </a:t>
            </a:r>
            <a:r>
              <a:rPr lang="en-US" sz="2900" dirty="0" err="1"/>
              <a:t>vạch</a:t>
            </a:r>
            <a:r>
              <a:rPr lang="en-US" sz="2900" dirty="0"/>
              <a:t> / </a:t>
            </a:r>
            <a:r>
              <a:rPr lang="en-US" sz="2900" dirty="0" err="1"/>
              <a:t>thẻ</a:t>
            </a:r>
            <a:r>
              <a:rPr lang="en-US" sz="2900" dirty="0"/>
              <a:t> RFID </a:t>
            </a:r>
            <a:r>
              <a:rPr lang="en-US" sz="2900" dirty="0" err="1"/>
              <a:t>để</a:t>
            </a:r>
            <a:r>
              <a:rPr lang="en-US" sz="2900" dirty="0"/>
              <a:t> </a:t>
            </a:r>
            <a:r>
              <a:rPr lang="en-US" sz="2900" dirty="0" err="1"/>
              <a:t>tăng</a:t>
            </a:r>
            <a:r>
              <a:rPr lang="en-US" sz="2900" dirty="0"/>
              <a:t> </a:t>
            </a:r>
            <a:r>
              <a:rPr lang="en-US" sz="2900" dirty="0" err="1"/>
              <a:t>tốc</a:t>
            </a:r>
            <a:r>
              <a:rPr lang="en-US" sz="2900" dirty="0"/>
              <a:t> </a:t>
            </a:r>
            <a:r>
              <a:rPr lang="en-US" sz="2900" dirty="0" err="1"/>
              <a:t>độ</a:t>
            </a:r>
            <a:r>
              <a:rPr lang="en-US" sz="2900" dirty="0"/>
              <a:t> </a:t>
            </a:r>
            <a:r>
              <a:rPr lang="en-US" sz="2900" dirty="0" err="1"/>
              <a:t>nhận</a:t>
            </a:r>
            <a:r>
              <a:rPr lang="en-US" sz="2900" dirty="0"/>
              <a:t> </a:t>
            </a:r>
            <a:r>
              <a:rPr lang="en-US" sz="2900" dirty="0" err="1"/>
              <a:t>diện</a:t>
            </a:r>
            <a:r>
              <a:rPr lang="en-US" sz="2900" dirty="0"/>
              <a:t> </a:t>
            </a:r>
            <a:r>
              <a:rPr lang="en-US" sz="2900" dirty="0" err="1"/>
              <a:t>giao</a:t>
            </a:r>
            <a:r>
              <a:rPr lang="en-US" sz="2900" dirty="0"/>
              <a:t> </a:t>
            </a:r>
            <a:r>
              <a:rPr lang="en-US" sz="2900" dirty="0" err="1"/>
              <a:t>dịch</a:t>
            </a:r>
            <a:r>
              <a:rPr lang="en-US" sz="2900" dirty="0"/>
              <a:t> </a:t>
            </a:r>
            <a:r>
              <a:rPr lang="en-US" sz="2900" dirty="0" err="1"/>
              <a:t>tại</a:t>
            </a:r>
            <a:r>
              <a:rPr lang="en-US" sz="2900" dirty="0"/>
              <a:t> </a:t>
            </a:r>
            <a:r>
              <a:rPr lang="en-US" sz="2900" dirty="0" err="1"/>
              <a:t>quầy</a:t>
            </a:r>
            <a:r>
              <a:rPr lang="en-US" sz="2900" dirty="0"/>
              <a:t>. </a:t>
            </a:r>
          </a:p>
          <a:p>
            <a:pPr lvl="0">
              <a:buFont typeface="Arial" panose="020B0604020202020204" pitchFamily="34" charset="0"/>
              <a:buChar char="•"/>
            </a:pPr>
            <a:r>
              <a:rPr lang="vi-VN" sz="2900" dirty="0"/>
              <a:t>Đồng bộ hóa: Nâng cấp và chuyển đổi cơ sở dữ liệu lên hệ thống điện toán đám mây (Cloud Database).</a:t>
            </a:r>
            <a:endParaRPr lang="en-US" sz="2900" dirty="0"/>
          </a:p>
          <a:p>
            <a:pPr lvl="0">
              <a:buFont typeface="Arial" panose="020B0604020202020204" pitchFamily="34" charset="0"/>
              <a:buChar char="•"/>
            </a:pPr>
            <a:r>
              <a:rPr lang="vi-VN" sz="2900" dirty="0"/>
              <a:t>Thư viện số: Tích hợp tính năng quản lý tài liệu số và sách điện tử (E-book).</a:t>
            </a:r>
            <a:endParaRPr lang="en-US" sz="29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1248</TotalTime>
  <Words>1502</Words>
  <Application>Microsoft Office PowerPoint</Application>
  <PresentationFormat>Widescreen</PresentationFormat>
  <Paragraphs>93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Times New Roman</vt:lpstr>
      <vt:lpstr>Verdana</vt:lpstr>
      <vt:lpstr>Wingdings</vt:lpstr>
      <vt:lpstr>Office Theme</vt:lpstr>
      <vt:lpstr>XÂY DỰNG CHƯƠNG TRÌNH QUẢN LÝ THƯ VIỆN ĐHSPKT HƯNG YÊN</vt:lpstr>
      <vt:lpstr>Nội Dung</vt:lpstr>
      <vt:lpstr>Lý Do Chọn Đề Tài</vt:lpstr>
      <vt:lpstr>Mục Tiêu Cần Đạt Được</vt:lpstr>
      <vt:lpstr>PHÂN TÍCH THIẾT KẾ HỆ THỐNG</vt:lpstr>
      <vt:lpstr>THIẾT KẾ CƠ SỞ DỮ LIỆU</vt:lpstr>
      <vt:lpstr>MỘT SỐ GIAO DIỆN CHÍNH</vt:lpstr>
      <vt:lpstr>MỘT SỐ GIAO DIỆN CHÍNH</vt:lpstr>
      <vt:lpstr>MỘT SỐ GIAO DIỆN CHÍNH</vt:lpstr>
      <vt:lpstr>MỘT SỐ GIAO DIỆN CHÍNH</vt:lpstr>
      <vt:lpstr>MỘT SỐ GIAO DIỆN CHÍNH</vt:lpstr>
      <vt:lpstr>Kết Luận &amp; Hướng Phát Triển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PHẦN MỀM QUẢN  LÝ KINH DOANH Ô TÔ</dc:title>
  <dc:creator>Gia Ba</dc:creator>
  <cp:lastModifiedBy>Quân Nguyễn</cp:lastModifiedBy>
  <cp:revision>30</cp:revision>
  <dcterms:created xsi:type="dcterms:W3CDTF">2023-08-08T03:48:00Z</dcterms:created>
  <dcterms:modified xsi:type="dcterms:W3CDTF">2026-05-29T03:30:39Z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D03D8DEA169B4BAB94374A59D577B841_13</vt:lpwstr>
  </property>
  <property fmtid="{D5CDD505-2E9C-101B-9397-08002B2CF9AE}" pid="10" name="KSOProductBuildVer">
    <vt:lpwstr>1033-12.1.0.26372</vt:lpwstr>
  </property>
</Properties>
</file>